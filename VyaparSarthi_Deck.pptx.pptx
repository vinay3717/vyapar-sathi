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 (MS)" panose="020B0604020202020204" charset="0"/>
      <p:regular r:id="rId11"/>
    </p:embeddedFont>
    <p:embeddedFont>
      <p:font typeface="Calibri (MS) Bold" panose="020B0604020202020204" charset="0"/>
      <p:regular r:id="rId12"/>
    </p:embeddedFont>
    <p:embeddedFont>
      <p:font typeface="Calibri (MS) Italics" panose="020B0604020202020204" charset="0"/>
      <p:regular r:id="rId13"/>
    </p:embeddedFont>
    <p:embeddedFont>
      <p:font typeface="Cambria Bold" panose="02040803050406030204" pitchFamily="18" charset="0"/>
      <p:regular r:id="rId14"/>
      <p:bold r:id="rId15"/>
    </p:embeddedFont>
    <p:embeddedFont>
      <p:font typeface="Cambria Bold Italics" panose="020B0604020202020204" charset="0"/>
      <p:regular r:id="rId16"/>
    </p:embeddedFont>
    <p:embeddedFont>
      <p:font typeface="Cambria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vinay3717/Vyapar-Sathi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93040" y="-3566160"/>
            <a:ext cx="9601200" cy="9601200"/>
            <a:chOff x="0" y="0"/>
            <a:chExt cx="12801600" cy="128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01600" cy="12801600"/>
            </a:xfrm>
            <a:custGeom>
              <a:avLst/>
              <a:gdLst/>
              <a:ahLst/>
              <a:cxnLst/>
              <a:rect l="l" t="t" r="r" b="b"/>
              <a:pathLst>
                <a:path w="12801600" h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F2A93B">
                <a:alpha val="117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3017520" y="6309360"/>
            <a:ext cx="8229600" cy="8229600"/>
            <a:chOff x="0" y="0"/>
            <a:chExt cx="10972800" cy="1097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3E8EDE">
                <a:alpha val="784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1234440"/>
            <a:ext cx="10972800" cy="548640"/>
            <a:chOff x="0" y="0"/>
            <a:chExt cx="14630400" cy="7315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75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3 · AUTONOMOUS AI TEAMMATES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4380" y="2057400"/>
            <a:ext cx="14401800" cy="1508760"/>
            <a:chOff x="0" y="0"/>
            <a:chExt cx="19202400" cy="20116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0" cy="2011680"/>
            </a:xfrm>
            <a:custGeom>
              <a:avLst/>
              <a:gdLst/>
              <a:ahLst/>
              <a:cxnLst/>
              <a:rect l="l" t="t" r="r" b="b"/>
              <a:pathLst>
                <a:path w="19202400" h="2011680">
                  <a:moveTo>
                    <a:pt x="0" y="0"/>
                  </a:moveTo>
                  <a:lnTo>
                    <a:pt x="19202400" y="0"/>
                  </a:lnTo>
                  <a:lnTo>
                    <a:pt x="19202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93" b="-13599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9202400" cy="2011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360"/>
                </a:lnSpc>
              </a:pPr>
              <a:r>
                <a:rPr lang="en-US" sz="78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व्यापार सारथी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4380" y="3497580"/>
            <a:ext cx="14401800" cy="1028700"/>
            <a:chOff x="0" y="0"/>
            <a:chExt cx="19202400" cy="1371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02400" cy="1371600"/>
            </a:xfrm>
            <a:custGeom>
              <a:avLst/>
              <a:gdLst/>
              <a:ahLst/>
              <a:cxnLst/>
              <a:rect l="l" t="t" r="r" b="b"/>
              <a:pathLst>
                <a:path w="19202400" h="13716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920240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2A9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Vyapar Sarthi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4380" y="4732020"/>
            <a:ext cx="13167360" cy="960120"/>
            <a:chOff x="0" y="0"/>
            <a:chExt cx="17556480" cy="12801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56480" cy="1280160"/>
            </a:xfrm>
            <a:custGeom>
              <a:avLst/>
              <a:gdLst/>
              <a:ahLst/>
              <a:cxnLst/>
              <a:rect l="l" t="t" r="r" b="b"/>
              <a:pathLst>
                <a:path w="17556480" h="1280160">
                  <a:moveTo>
                    <a:pt x="0" y="0"/>
                  </a:moveTo>
                  <a:lnTo>
                    <a:pt x="17556480" y="0"/>
                  </a:lnTo>
                  <a:lnTo>
                    <a:pt x="17556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23" b="-21722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755648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i="1">
                  <a:solidFill>
                    <a:srgbClr val="CFCFE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AI teammate that learns from your mistakes — so you don't repeat them.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rot="22260">
            <a:off x="740045" y="6094095"/>
            <a:ext cx="4417790" cy="0"/>
          </a:xfrm>
          <a:prstGeom prst="line">
            <a:avLst/>
          </a:prstGeom>
          <a:ln w="19050" cap="rnd">
            <a:solidFill>
              <a:srgbClr val="F2A9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754380" y="8983980"/>
            <a:ext cx="13716000" cy="617220"/>
            <a:chOff x="0" y="0"/>
            <a:chExt cx="18288000" cy="8229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288000" cy="822960"/>
            </a:xfrm>
            <a:custGeom>
              <a:avLst/>
              <a:gdLst/>
              <a:ahLst/>
              <a:cxnLst/>
              <a:rect l="l" t="t" r="r" b="b"/>
              <a:pathLst>
                <a:path w="18288000" h="822960">
                  <a:moveTo>
                    <a:pt x="0" y="0"/>
                  </a:moveTo>
                  <a:lnTo>
                    <a:pt x="18288000" y="0"/>
                  </a:lnTo>
                  <a:lnTo>
                    <a:pt x="18288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000" b="-38300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8288000" cy="870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EA2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Cutie’s ·  Paytm Build for India AI Hackathon — Mumbai Edition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911828" y="9532620"/>
            <a:ext cx="822960" cy="480060"/>
            <a:chOff x="0" y="0"/>
            <a:chExt cx="1097280" cy="6400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8F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4380" y="9601200"/>
            <a:ext cx="5486400" cy="480060"/>
            <a:chOff x="0" y="0"/>
            <a:chExt cx="7315200" cy="6400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8A8F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VYAPAR SARTHI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0091" y="8837079"/>
            <a:ext cx="14401800" cy="1391083"/>
            <a:chOff x="0" y="0"/>
            <a:chExt cx="19202400" cy="185477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202400" cy="1854777"/>
            </a:xfrm>
            <a:custGeom>
              <a:avLst/>
              <a:gdLst/>
              <a:ahLst/>
              <a:cxnLst/>
              <a:rect l="l" t="t" r="r" b="b"/>
              <a:pathLst>
                <a:path w="19202400" h="1854777">
                  <a:moveTo>
                    <a:pt x="0" y="0"/>
                  </a:moveTo>
                  <a:lnTo>
                    <a:pt x="19202400" y="0"/>
                  </a:lnTo>
                  <a:lnTo>
                    <a:pt x="19202400" y="1854777"/>
                  </a:lnTo>
                  <a:lnTo>
                    <a:pt x="0" y="1854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752" b="-13870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9202400" cy="18643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2A9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Devesh Dolas . Vinay Gole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80" y="61722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380" y="1097280"/>
            <a:ext cx="15910560" cy="1783080"/>
            <a:chOff x="0" y="0"/>
            <a:chExt cx="21214080" cy="2377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4080" cy="2377440"/>
            </a:xfrm>
            <a:custGeom>
              <a:avLst/>
              <a:gdLst/>
              <a:ahLst/>
              <a:cxnLst/>
              <a:rect l="l" t="t" r="r" b="b"/>
              <a:pathLst>
                <a:path w="21214080" h="2377440">
                  <a:moveTo>
                    <a:pt x="0" y="0"/>
                  </a:moveTo>
                  <a:lnTo>
                    <a:pt x="21214080" y="0"/>
                  </a:lnTo>
                  <a:lnTo>
                    <a:pt x="212140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866" b="-12386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214080" cy="2396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957"/>
                </a:lnSpc>
              </a:pPr>
              <a:r>
                <a:rPr lang="en-US" sz="40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Raju has run the same failed discount</a:t>
              </a:r>
            </a:p>
            <a:p>
              <a:pPr algn="l">
                <a:lnSpc>
                  <a:spcPts val="4957"/>
                </a:lnSpc>
              </a:pPr>
              <a:r>
                <a:rPr lang="en-US" sz="40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three times. Nobody told him.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380" y="2811780"/>
            <a:ext cx="8641080" cy="1577340"/>
            <a:chOff x="0" y="0"/>
            <a:chExt cx="11521440" cy="2103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21440" cy="2103120"/>
            </a:xfrm>
            <a:custGeom>
              <a:avLst/>
              <a:gdLst/>
              <a:ahLst/>
              <a:cxnLst/>
              <a:rect l="l" t="t" r="r" b="b"/>
              <a:pathLst>
                <a:path w="11521440" h="2103120">
                  <a:moveTo>
                    <a:pt x="0" y="0"/>
                  </a:moveTo>
                  <a:lnTo>
                    <a:pt x="11521440" y="0"/>
                  </a:lnTo>
                  <a:lnTo>
                    <a:pt x="115214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44" b="-5674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1521440" cy="2198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India has 13 million Paytm merchants collecting payments digitally. </a:t>
              </a:r>
              <a:r>
                <a:rPr lang="en-US" sz="2025" b="1">
                  <a:solidFill>
                    <a:srgbClr val="5B5E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But they make decisions the same way their fathers did</a:t>
              </a:r>
              <a:r>
                <a:rPr lang="en-US" sz="20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on instinct, with zero memory of what worked or failed before.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4594860"/>
            <a:ext cx="8641080" cy="2125980"/>
            <a:chOff x="0" y="0"/>
            <a:chExt cx="11521440" cy="2834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21440" cy="2834640"/>
            </a:xfrm>
            <a:custGeom>
              <a:avLst/>
              <a:gdLst/>
              <a:ahLst/>
              <a:cxnLst/>
              <a:rect l="l" t="t" r="r" b="b"/>
              <a:pathLst>
                <a:path w="11521440" h="2834640">
                  <a:moveTo>
                    <a:pt x="0" y="0"/>
                  </a:moveTo>
                  <a:lnTo>
                    <a:pt x="11521440" y="0"/>
                  </a:lnTo>
                  <a:lnTo>
                    <a:pt x="11521440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34440" y="4869180"/>
            <a:ext cx="6858000" cy="411480"/>
            <a:chOff x="0" y="0"/>
            <a:chExt cx="9144000" cy="548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44000" cy="548640"/>
            </a:xfrm>
            <a:custGeom>
              <a:avLst/>
              <a:gdLst/>
              <a:ahLst/>
              <a:cxnLst/>
              <a:rect l="l" t="t" r="r" b="b"/>
              <a:pathLst>
                <a:path w="9144000" h="54864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GAP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4440" y="5280660"/>
            <a:ext cx="7680960" cy="1234440"/>
            <a:chOff x="0" y="0"/>
            <a:chExt cx="10241280" cy="16459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41280" cy="1645920"/>
            </a:xfrm>
            <a:custGeom>
              <a:avLst/>
              <a:gdLst/>
              <a:ahLst/>
              <a:cxnLst/>
              <a:rect l="l" t="t" r="r" b="b"/>
              <a:pathLst>
                <a:path w="10241280" h="1645920">
                  <a:moveTo>
                    <a:pt x="0" y="0"/>
                  </a:moveTo>
                  <a:lnTo>
                    <a:pt x="10241280" y="0"/>
                  </a:lnTo>
                  <a:lnTo>
                    <a:pt x="102412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240" b="-7124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241280" cy="1703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19"/>
                </a:lnSpc>
              </a:pPr>
              <a:r>
                <a:rPr lang="en-US" sz="2550" i="1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They have transaction data.</a:t>
              </a:r>
            </a:p>
            <a:p>
              <a:pPr algn="l">
                <a:lnSpc>
                  <a:spcPts val="3519"/>
                </a:lnSpc>
              </a:pPr>
              <a:r>
                <a:rPr lang="en-US" sz="2550" i="1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They have zero decision intelligence.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4380" y="7063740"/>
            <a:ext cx="2743200" cy="1165860"/>
            <a:chOff x="0" y="0"/>
            <a:chExt cx="3657600" cy="15544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657600" cy="1554480"/>
            </a:xfrm>
            <a:custGeom>
              <a:avLst/>
              <a:gdLst/>
              <a:ahLst/>
              <a:cxnLst/>
              <a:rect l="l" t="t" r="r" b="b"/>
              <a:pathLst>
                <a:path w="3657600" h="1554480">
                  <a:moveTo>
                    <a:pt x="0" y="0"/>
                  </a:moveTo>
                  <a:lnTo>
                    <a:pt x="3657600" y="0"/>
                  </a:lnTo>
                  <a:lnTo>
                    <a:pt x="3657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r="-452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6576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D953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70%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566160" y="7242048"/>
            <a:ext cx="5897880" cy="1165860"/>
            <a:chOff x="0" y="0"/>
            <a:chExt cx="7863840" cy="15544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863840" cy="1554480"/>
            </a:xfrm>
            <a:custGeom>
              <a:avLst/>
              <a:gdLst/>
              <a:ahLst/>
              <a:cxnLst/>
              <a:rect l="l" t="t" r="r" b="b"/>
              <a:pathLst>
                <a:path w="7863840" h="1554480">
                  <a:moveTo>
                    <a:pt x="0" y="0"/>
                  </a:moveTo>
                  <a:lnTo>
                    <a:pt x="7863840" y="0"/>
                  </a:lnTo>
                  <a:lnTo>
                    <a:pt x="78638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71" b="-4857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7863840" cy="1630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small merchants retry a promotion even after it already failed once.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71735" y="2665095"/>
            <a:ext cx="7494270" cy="1966722"/>
            <a:chOff x="0" y="0"/>
            <a:chExt cx="9992360" cy="26222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992360" cy="2622296"/>
            </a:xfrm>
            <a:custGeom>
              <a:avLst/>
              <a:gdLst/>
              <a:ahLst/>
              <a:cxnLst/>
              <a:rect l="l" t="t" r="r" b="b"/>
              <a:pathLst>
                <a:path w="9992360" h="2622296">
                  <a:moveTo>
                    <a:pt x="0" y="0"/>
                  </a:moveTo>
                  <a:lnTo>
                    <a:pt x="9992360" y="0"/>
                  </a:lnTo>
                  <a:lnTo>
                    <a:pt x="9992360" y="2622296"/>
                  </a:lnTo>
                  <a:lnTo>
                    <a:pt x="0" y="26222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465308" y="3168396"/>
            <a:ext cx="960120" cy="960120"/>
            <a:chOff x="0" y="0"/>
            <a:chExt cx="1280160" cy="12801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534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465308" y="3140964"/>
            <a:ext cx="960120" cy="960120"/>
            <a:chOff x="0" y="0"/>
            <a:chExt cx="1280160" cy="12801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27180" y="2948940"/>
            <a:ext cx="5417820" cy="480060"/>
            <a:chOff x="0" y="0"/>
            <a:chExt cx="7223760" cy="6400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223760" cy="640080"/>
            </a:xfrm>
            <a:custGeom>
              <a:avLst/>
              <a:gdLst/>
              <a:ahLst/>
              <a:cxnLst/>
              <a:rect l="l" t="t" r="r" b="b"/>
              <a:pathLst>
                <a:path w="7223760" h="640080">
                  <a:moveTo>
                    <a:pt x="0" y="0"/>
                  </a:moveTo>
                  <a:lnTo>
                    <a:pt x="7223760" y="0"/>
                  </a:lnTo>
                  <a:lnTo>
                    <a:pt x="7223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902" b="-16990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72237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 decision memory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727180" y="3470148"/>
            <a:ext cx="5417820" cy="1028700"/>
            <a:chOff x="0" y="0"/>
            <a:chExt cx="7223760" cy="1371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223760" cy="1371600"/>
            </a:xfrm>
            <a:custGeom>
              <a:avLst/>
              <a:gdLst/>
              <a:ahLst/>
              <a:cxnLst/>
              <a:rect l="l" t="t" r="r" b="b"/>
              <a:pathLst>
                <a:path w="7223760" h="1371600">
                  <a:moveTo>
                    <a:pt x="0" y="0"/>
                  </a:moveTo>
                  <a:lnTo>
                    <a:pt x="7223760" y="0"/>
                  </a:lnTo>
                  <a:lnTo>
                    <a:pt x="72237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621" b="-5262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722376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Merchants repeat failed strategies because nothing records outcomes.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71735" y="4887087"/>
            <a:ext cx="7494270" cy="1966722"/>
            <a:chOff x="0" y="0"/>
            <a:chExt cx="9992360" cy="262229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992360" cy="2622296"/>
            </a:xfrm>
            <a:custGeom>
              <a:avLst/>
              <a:gdLst/>
              <a:ahLst/>
              <a:cxnLst/>
              <a:rect l="l" t="t" r="r" b="b"/>
              <a:pathLst>
                <a:path w="9992360" h="2622296">
                  <a:moveTo>
                    <a:pt x="0" y="0"/>
                  </a:moveTo>
                  <a:lnTo>
                    <a:pt x="9992360" y="0"/>
                  </a:lnTo>
                  <a:lnTo>
                    <a:pt x="9992360" y="2622296"/>
                  </a:lnTo>
                  <a:lnTo>
                    <a:pt x="0" y="26222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0465308" y="5390388"/>
            <a:ext cx="960120" cy="960120"/>
            <a:chOff x="0" y="0"/>
            <a:chExt cx="1280160" cy="12801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E8EDE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465308" y="5362956"/>
            <a:ext cx="960120" cy="960120"/>
            <a:chOff x="0" y="0"/>
            <a:chExt cx="1280160" cy="12801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🔇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727180" y="5170932"/>
            <a:ext cx="5417820" cy="480060"/>
            <a:chOff x="0" y="0"/>
            <a:chExt cx="7223760" cy="6400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223760" cy="640080"/>
            </a:xfrm>
            <a:custGeom>
              <a:avLst/>
              <a:gdLst/>
              <a:ahLst/>
              <a:cxnLst/>
              <a:rect l="l" t="t" r="r" b="b"/>
              <a:pathLst>
                <a:path w="7223760" h="640080">
                  <a:moveTo>
                    <a:pt x="0" y="0"/>
                  </a:moveTo>
                  <a:lnTo>
                    <a:pt x="7223760" y="0"/>
                  </a:lnTo>
                  <a:lnTo>
                    <a:pt x="7223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902" b="-169902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72237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 proactive advisor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727180" y="5692140"/>
            <a:ext cx="5417820" cy="1028700"/>
            <a:chOff x="0" y="0"/>
            <a:chExt cx="7223760" cy="1371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223760" cy="1371600"/>
            </a:xfrm>
            <a:custGeom>
              <a:avLst/>
              <a:gdLst/>
              <a:ahLst/>
              <a:cxnLst/>
              <a:rect l="l" t="t" r="r" b="b"/>
              <a:pathLst>
                <a:path w="7223760" h="1371600">
                  <a:moveTo>
                    <a:pt x="0" y="0"/>
                  </a:moveTo>
                  <a:lnTo>
                    <a:pt x="7223760" y="0"/>
                  </a:lnTo>
                  <a:lnTo>
                    <a:pt x="72237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621" b="-52621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722376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 tools only respond when asked. Nobody watches out for the merchant.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71735" y="7109079"/>
            <a:ext cx="7494270" cy="1966722"/>
            <a:chOff x="0" y="0"/>
            <a:chExt cx="9992360" cy="262229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992360" cy="2622296"/>
            </a:xfrm>
            <a:custGeom>
              <a:avLst/>
              <a:gdLst/>
              <a:ahLst/>
              <a:cxnLst/>
              <a:rect l="l" t="t" r="r" b="b"/>
              <a:pathLst>
                <a:path w="9992360" h="2622296">
                  <a:moveTo>
                    <a:pt x="0" y="0"/>
                  </a:moveTo>
                  <a:lnTo>
                    <a:pt x="9992360" y="0"/>
                  </a:lnTo>
                  <a:lnTo>
                    <a:pt x="9992360" y="2622296"/>
                  </a:lnTo>
                  <a:lnTo>
                    <a:pt x="0" y="26222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0465308" y="7612380"/>
            <a:ext cx="960120" cy="960120"/>
            <a:chOff x="0" y="0"/>
            <a:chExt cx="1280160" cy="12801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9791A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0465308" y="7584948"/>
            <a:ext cx="960120" cy="960120"/>
            <a:chOff x="0" y="0"/>
            <a:chExt cx="1280160" cy="12801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727180" y="7392924"/>
            <a:ext cx="5417820" cy="480060"/>
            <a:chOff x="0" y="0"/>
            <a:chExt cx="7223760" cy="6400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223760" cy="640080"/>
            </a:xfrm>
            <a:custGeom>
              <a:avLst/>
              <a:gdLst/>
              <a:ahLst/>
              <a:cxnLst/>
              <a:rect l="l" t="t" r="r" b="b"/>
              <a:pathLst>
                <a:path w="7223760" h="640080">
                  <a:moveTo>
                    <a:pt x="0" y="0"/>
                  </a:moveTo>
                  <a:lnTo>
                    <a:pt x="7223760" y="0"/>
                  </a:lnTo>
                  <a:lnTo>
                    <a:pt x="7223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902" b="-16990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72237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Language barrier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727180" y="7914132"/>
            <a:ext cx="5417820" cy="1028700"/>
            <a:chOff x="0" y="0"/>
            <a:chExt cx="7223760" cy="13716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223760" cy="1371600"/>
            </a:xfrm>
            <a:custGeom>
              <a:avLst/>
              <a:gdLst/>
              <a:ahLst/>
              <a:cxnLst/>
              <a:rect l="l" t="t" r="r" b="b"/>
              <a:pathLst>
                <a:path w="7223760" h="1371600">
                  <a:moveTo>
                    <a:pt x="0" y="0"/>
                  </a:moveTo>
                  <a:lnTo>
                    <a:pt x="7223760" y="0"/>
                  </a:lnTo>
                  <a:lnTo>
                    <a:pt x="72237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621" b="-52621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66675"/>
              <a:ext cx="722376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Analytics dashboards are English, data-heavy, and require literacy to read.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911828" y="9532620"/>
            <a:ext cx="822960" cy="480060"/>
            <a:chOff x="0" y="0"/>
            <a:chExt cx="1097280" cy="640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54380" y="9532620"/>
            <a:ext cx="5486400" cy="480060"/>
            <a:chOff x="0" y="0"/>
            <a:chExt cx="7315200" cy="6400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BDB6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VYAPAR SARTHI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80" y="61722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4855" y="1097280"/>
            <a:ext cx="15910560" cy="1783080"/>
            <a:chOff x="0" y="0"/>
            <a:chExt cx="21214080" cy="2377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4080" cy="2377440"/>
            </a:xfrm>
            <a:custGeom>
              <a:avLst/>
              <a:gdLst/>
              <a:ahLst/>
              <a:cxnLst/>
              <a:rect l="l" t="t" r="r" b="b"/>
              <a:pathLst>
                <a:path w="21214080" h="2377440">
                  <a:moveTo>
                    <a:pt x="0" y="0"/>
                  </a:moveTo>
                  <a:lnTo>
                    <a:pt x="21214080" y="0"/>
                  </a:lnTo>
                  <a:lnTo>
                    <a:pt x="212140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866" b="-12386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21408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90"/>
                </a:lnSpc>
              </a:pPr>
              <a:r>
                <a:rPr lang="en-US" sz="37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Meet Vyapar Sarthi — the AI teammate</a:t>
              </a:r>
            </a:p>
            <a:p>
              <a:pPr algn="l">
                <a:lnSpc>
                  <a:spcPts val="4590"/>
                </a:lnSpc>
              </a:pPr>
              <a:r>
                <a:rPr lang="en-US" sz="37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that remembers, learns, and speaks up.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4855" y="2939415"/>
            <a:ext cx="5436870" cy="3516630"/>
            <a:chOff x="0" y="0"/>
            <a:chExt cx="7249160" cy="4688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49160" cy="4688840"/>
            </a:xfrm>
            <a:custGeom>
              <a:avLst/>
              <a:gdLst/>
              <a:ahLst/>
              <a:cxnLst/>
              <a:rect l="l" t="t" r="r" b="b"/>
              <a:pathLst>
                <a:path w="7249160" h="4688840">
                  <a:moveTo>
                    <a:pt x="0" y="0"/>
                  </a:moveTo>
                  <a:lnTo>
                    <a:pt x="7249160" y="0"/>
                  </a:lnTo>
                  <a:lnTo>
                    <a:pt x="7249160" y="4688840"/>
                  </a:lnTo>
                  <a:lnTo>
                    <a:pt x="0" y="46888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54380" y="2948940"/>
            <a:ext cx="5417820" cy="123444"/>
            <a:chOff x="0" y="0"/>
            <a:chExt cx="7223760" cy="1645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23760" cy="164592"/>
            </a:xfrm>
            <a:custGeom>
              <a:avLst/>
              <a:gdLst/>
              <a:ahLst/>
              <a:cxnLst/>
              <a:rect l="l" t="t" r="r" b="b"/>
              <a:pathLst>
                <a:path w="7223760" h="164592">
                  <a:moveTo>
                    <a:pt x="0" y="0"/>
                  </a:moveTo>
                  <a:lnTo>
                    <a:pt x="7223760" y="0"/>
                  </a:lnTo>
                  <a:lnTo>
                    <a:pt x="72237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D9534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93292" y="3497580"/>
            <a:ext cx="1028700" cy="1028700"/>
            <a:chOff x="0" y="0"/>
            <a:chExt cx="1371600" cy="1371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D9534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93292" y="3470148"/>
            <a:ext cx="1028700" cy="1028700"/>
            <a:chOff x="0" y="0"/>
            <a:chExt cx="1371600" cy="137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37160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🛑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93292" y="4732020"/>
            <a:ext cx="4594860" cy="576072"/>
            <a:chOff x="0" y="0"/>
            <a:chExt cx="6126480" cy="7680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26480" cy="768096"/>
            </a:xfrm>
            <a:custGeom>
              <a:avLst/>
              <a:gdLst/>
              <a:ahLst/>
              <a:cxnLst/>
              <a:rect l="l" t="t" r="r" b="b"/>
              <a:pathLst>
                <a:path w="6126480" h="768096">
                  <a:moveTo>
                    <a:pt x="0" y="0"/>
                  </a:moveTo>
                  <a:lnTo>
                    <a:pt x="6126480" y="0"/>
                  </a:lnTo>
                  <a:lnTo>
                    <a:pt x="6126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416" b="-10541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12648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Failure Guard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93292" y="5308092"/>
            <a:ext cx="4594860" cy="1028700"/>
            <a:chOff x="0" y="0"/>
            <a:chExt cx="6126480" cy="1371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126480" cy="1371600"/>
            </a:xfrm>
            <a:custGeom>
              <a:avLst/>
              <a:gdLst/>
              <a:ahLst/>
              <a:cxnLst/>
              <a:rect l="l" t="t" r="r" b="b"/>
              <a:pathLst>
                <a:path w="6126480" h="1371600">
                  <a:moveTo>
                    <a:pt x="0" y="0"/>
                  </a:moveTo>
                  <a:lnTo>
                    <a:pt x="6126480" y="0"/>
                  </a:lnTo>
                  <a:lnTo>
                    <a:pt x="6126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033" b="-3703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612648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6"/>
                </a:lnSpc>
              </a:pPr>
              <a:r>
                <a:rPr lang="en-US" sz="165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Detects when a merchant is about to repeat a past mistake. Warns them in Hindi before they act — automatically, every week.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46723" y="2939415"/>
            <a:ext cx="5436870" cy="3516630"/>
            <a:chOff x="0" y="0"/>
            <a:chExt cx="7249160" cy="46888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249160" cy="4688840"/>
            </a:xfrm>
            <a:custGeom>
              <a:avLst/>
              <a:gdLst/>
              <a:ahLst/>
              <a:cxnLst/>
              <a:rect l="l" t="t" r="r" b="b"/>
              <a:pathLst>
                <a:path w="7249160" h="4688840">
                  <a:moveTo>
                    <a:pt x="0" y="0"/>
                  </a:moveTo>
                  <a:lnTo>
                    <a:pt x="7249160" y="0"/>
                  </a:lnTo>
                  <a:lnTo>
                    <a:pt x="7249160" y="4688840"/>
                  </a:lnTo>
                  <a:lnTo>
                    <a:pt x="0" y="46888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556248" y="2948940"/>
            <a:ext cx="5417820" cy="123444"/>
            <a:chOff x="0" y="0"/>
            <a:chExt cx="7223760" cy="164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23760" cy="164592"/>
            </a:xfrm>
            <a:custGeom>
              <a:avLst/>
              <a:gdLst/>
              <a:ahLst/>
              <a:cxnLst/>
              <a:rect l="l" t="t" r="r" b="b"/>
              <a:pathLst>
                <a:path w="7223760" h="164592">
                  <a:moveTo>
                    <a:pt x="0" y="0"/>
                  </a:moveTo>
                  <a:lnTo>
                    <a:pt x="7223760" y="0"/>
                  </a:lnTo>
                  <a:lnTo>
                    <a:pt x="72237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2BAE66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6995160" y="3497580"/>
            <a:ext cx="1028700" cy="1028700"/>
            <a:chOff x="0" y="0"/>
            <a:chExt cx="1371600" cy="1371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2BAE66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995160" y="3470148"/>
            <a:ext cx="1028700" cy="1028700"/>
            <a:chOff x="0" y="0"/>
            <a:chExt cx="1371600" cy="1371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137160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995160" y="4732020"/>
            <a:ext cx="4594860" cy="576072"/>
            <a:chOff x="0" y="0"/>
            <a:chExt cx="6126480" cy="7680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126480" cy="768096"/>
            </a:xfrm>
            <a:custGeom>
              <a:avLst/>
              <a:gdLst/>
              <a:ahLst/>
              <a:cxnLst/>
              <a:rect l="l" t="t" r="r" b="b"/>
              <a:pathLst>
                <a:path w="6126480" h="768096">
                  <a:moveTo>
                    <a:pt x="0" y="0"/>
                  </a:moveTo>
                  <a:lnTo>
                    <a:pt x="6126480" y="0"/>
                  </a:lnTo>
                  <a:lnTo>
                    <a:pt x="6126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416" b="-10541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612648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Personal Best Replay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995160" y="5308092"/>
            <a:ext cx="4594860" cy="1028700"/>
            <a:chOff x="0" y="0"/>
            <a:chExt cx="6126480" cy="1371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126480" cy="1371600"/>
            </a:xfrm>
            <a:custGeom>
              <a:avLst/>
              <a:gdLst/>
              <a:ahLst/>
              <a:cxnLst/>
              <a:rect l="l" t="t" r="r" b="b"/>
              <a:pathLst>
                <a:path w="6126480" h="1371600">
                  <a:moveTo>
                    <a:pt x="0" y="0"/>
                  </a:moveTo>
                  <a:lnTo>
                    <a:pt x="6126480" y="0"/>
                  </a:lnTo>
                  <a:lnTo>
                    <a:pt x="6126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033" b="-3703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612648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6"/>
                </a:lnSpc>
              </a:pPr>
              <a:r>
                <a:rPr lang="en-US" sz="165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Finds the merchant's own high-performing decisions and suggests recreating what actually worked for them specifically.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348591" y="2939415"/>
            <a:ext cx="5436870" cy="3516630"/>
            <a:chOff x="0" y="0"/>
            <a:chExt cx="7249160" cy="46888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249160" cy="4688840"/>
            </a:xfrm>
            <a:custGeom>
              <a:avLst/>
              <a:gdLst/>
              <a:ahLst/>
              <a:cxnLst/>
              <a:rect l="l" t="t" r="r" b="b"/>
              <a:pathLst>
                <a:path w="7249160" h="4688840">
                  <a:moveTo>
                    <a:pt x="0" y="0"/>
                  </a:moveTo>
                  <a:lnTo>
                    <a:pt x="7249160" y="0"/>
                  </a:lnTo>
                  <a:lnTo>
                    <a:pt x="7249160" y="4688840"/>
                  </a:lnTo>
                  <a:lnTo>
                    <a:pt x="0" y="46888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358116" y="2948940"/>
            <a:ext cx="5417820" cy="123444"/>
            <a:chOff x="0" y="0"/>
            <a:chExt cx="7223760" cy="16459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223760" cy="164592"/>
            </a:xfrm>
            <a:custGeom>
              <a:avLst/>
              <a:gdLst/>
              <a:ahLst/>
              <a:cxnLst/>
              <a:rect l="l" t="t" r="r" b="b"/>
              <a:pathLst>
                <a:path w="7223760" h="164592">
                  <a:moveTo>
                    <a:pt x="0" y="0"/>
                  </a:moveTo>
                  <a:lnTo>
                    <a:pt x="7223760" y="0"/>
                  </a:lnTo>
                  <a:lnTo>
                    <a:pt x="72237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E8EDE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2797028" y="3497580"/>
            <a:ext cx="1028700" cy="1028700"/>
            <a:chOff x="0" y="0"/>
            <a:chExt cx="1371600" cy="1371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3E8EDE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2797028" y="3470148"/>
            <a:ext cx="1028700" cy="1028700"/>
            <a:chOff x="0" y="0"/>
            <a:chExt cx="1371600" cy="1371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137160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797028" y="4732020"/>
            <a:ext cx="4594860" cy="576072"/>
            <a:chOff x="0" y="0"/>
            <a:chExt cx="6126480" cy="76809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126480" cy="768096"/>
            </a:xfrm>
            <a:custGeom>
              <a:avLst/>
              <a:gdLst/>
              <a:ahLst/>
              <a:cxnLst/>
              <a:rect l="l" t="t" r="r" b="b"/>
              <a:pathLst>
                <a:path w="6126480" h="768096">
                  <a:moveTo>
                    <a:pt x="0" y="0"/>
                  </a:moveTo>
                  <a:lnTo>
                    <a:pt x="6126480" y="0"/>
                  </a:lnTo>
                  <a:lnTo>
                    <a:pt x="6126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416" b="-10541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6126480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Network Wisdom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797028" y="5308092"/>
            <a:ext cx="4594860" cy="1028700"/>
            <a:chOff x="0" y="0"/>
            <a:chExt cx="6126480" cy="13716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126480" cy="1371600"/>
            </a:xfrm>
            <a:custGeom>
              <a:avLst/>
              <a:gdLst/>
              <a:ahLst/>
              <a:cxnLst/>
              <a:rect l="l" t="t" r="r" b="b"/>
              <a:pathLst>
                <a:path w="6126480" h="1371600">
                  <a:moveTo>
                    <a:pt x="0" y="0"/>
                  </a:moveTo>
                  <a:lnTo>
                    <a:pt x="6126480" y="0"/>
                  </a:lnTo>
                  <a:lnTo>
                    <a:pt x="6126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033" b="-3703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612648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6"/>
                </a:lnSpc>
              </a:pPr>
              <a:r>
                <a:rPr lang="en-US" sz="165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Surfaces what similar Paytm merchants did in the same season — and what paid off.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54380" y="6926580"/>
            <a:ext cx="16774668" cy="1165860"/>
            <a:chOff x="0" y="0"/>
            <a:chExt cx="22366224" cy="15544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366224" cy="1554480"/>
            </a:xfrm>
            <a:custGeom>
              <a:avLst/>
              <a:gdLst/>
              <a:ahLst/>
              <a:cxnLst/>
              <a:rect l="l" t="t" r="r" b="b"/>
              <a:pathLst>
                <a:path w="22366224" h="1554480">
                  <a:moveTo>
                    <a:pt x="0" y="0"/>
                  </a:moveTo>
                  <a:lnTo>
                    <a:pt x="22366224" y="0"/>
                  </a:lnTo>
                  <a:lnTo>
                    <a:pt x="22366224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234440" y="7063740"/>
            <a:ext cx="4114800" cy="384048"/>
            <a:chOff x="0" y="0"/>
            <a:chExt cx="5486400" cy="51206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486400" cy="512064"/>
            </a:xfrm>
            <a:custGeom>
              <a:avLst/>
              <a:gdLst/>
              <a:ahLst/>
              <a:cxnLst/>
              <a:rect l="l" t="t" r="r" b="b"/>
              <a:pathLst>
                <a:path w="5486400" h="512064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5486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225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IT'S DELIVERED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34440" y="7420356"/>
            <a:ext cx="15814548" cy="576072"/>
            <a:chOff x="0" y="0"/>
            <a:chExt cx="21086064" cy="76809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1086065" cy="768096"/>
            </a:xfrm>
            <a:custGeom>
              <a:avLst/>
              <a:gdLst/>
              <a:ahLst/>
              <a:cxnLst/>
              <a:rect l="l" t="t" r="r" b="b"/>
              <a:pathLst>
                <a:path w="21086065" h="768096">
                  <a:moveTo>
                    <a:pt x="0" y="0"/>
                  </a:moveTo>
                  <a:lnTo>
                    <a:pt x="21086065" y="0"/>
                  </a:lnTo>
                  <a:lnTo>
                    <a:pt x="21086065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4910" b="-484910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57150"/>
              <a:ext cx="21086064" cy="825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E7E5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dashboard. No typing. A proactive voice note in Hindi/Marathi — triggered every Monday morning before the merchant's week begins.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54380" y="8435340"/>
            <a:ext cx="16774668" cy="960120"/>
            <a:chOff x="0" y="0"/>
            <a:chExt cx="22366224" cy="12801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2366224" cy="1280160"/>
            </a:xfrm>
            <a:custGeom>
              <a:avLst/>
              <a:gdLst/>
              <a:ahLst/>
              <a:cxnLst/>
              <a:rect l="l" t="t" r="r" b="b"/>
              <a:pathLst>
                <a:path w="22366224" h="1280160">
                  <a:moveTo>
                    <a:pt x="0" y="0"/>
                  </a:moveTo>
                  <a:lnTo>
                    <a:pt x="22366224" y="0"/>
                  </a:lnTo>
                  <a:lnTo>
                    <a:pt x="2236622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431" b="-290431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76200"/>
              <a:ext cx="22366224" cy="1356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100" b="1" i="1">
                  <a:solidFill>
                    <a:srgbClr val="1B1F3B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Vyapar Sarthi nahin kehta “kya hua” — kehta hai “ab kya karo.”</a:t>
              </a:r>
            </a:p>
            <a:p>
              <a:pPr algn="ctr">
                <a:lnSpc>
                  <a:spcPts val="2587"/>
                </a:lnSpc>
              </a:pPr>
              <a:r>
                <a:rPr lang="en-US" sz="1725" i="1">
                  <a:solidFill>
                    <a:srgbClr val="5B5E77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It doesn't say what happened — it says what to do now.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911828" y="9532620"/>
            <a:ext cx="822960" cy="480060"/>
            <a:chOff x="0" y="0"/>
            <a:chExt cx="1097280" cy="640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54380" y="9532620"/>
            <a:ext cx="5486400" cy="480060"/>
            <a:chOff x="0" y="0"/>
            <a:chExt cx="7315200" cy="6400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BDB6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VYAPAR SARTHI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002191" y="1383029"/>
            <a:ext cx="8763000" cy="811531"/>
            <a:chOff x="68640" y="0"/>
            <a:chExt cx="6253124" cy="1184204"/>
          </a:xfrm>
        </p:grpSpPr>
        <p:grpSp>
          <p:nvGrpSpPr>
            <p:cNvPr id="71" name="Group 71"/>
            <p:cNvGrpSpPr/>
            <p:nvPr/>
          </p:nvGrpSpPr>
          <p:grpSpPr>
            <a:xfrm>
              <a:off x="1173834" y="0"/>
              <a:ext cx="4042736" cy="1184204"/>
              <a:chOff x="0" y="0"/>
              <a:chExt cx="798565" cy="23391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798565" cy="233917"/>
              </a:xfrm>
              <a:custGeom>
                <a:avLst/>
                <a:gdLst/>
                <a:ahLst/>
                <a:cxnLst/>
                <a:rect l="l" t="t" r="r" b="b"/>
                <a:pathLst>
                  <a:path w="798565" h="233917">
                    <a:moveTo>
                      <a:pt x="116958" y="0"/>
                    </a:moveTo>
                    <a:lnTo>
                      <a:pt x="681607" y="0"/>
                    </a:lnTo>
                    <a:cubicBezTo>
                      <a:pt x="712626" y="0"/>
                      <a:pt x="742375" y="12322"/>
                      <a:pt x="764309" y="34256"/>
                    </a:cubicBezTo>
                    <a:cubicBezTo>
                      <a:pt x="786243" y="56190"/>
                      <a:pt x="798565" y="85939"/>
                      <a:pt x="798565" y="116958"/>
                    </a:cubicBezTo>
                    <a:lnTo>
                      <a:pt x="798565" y="116958"/>
                    </a:lnTo>
                    <a:cubicBezTo>
                      <a:pt x="798565" y="181553"/>
                      <a:pt x="746201" y="233917"/>
                      <a:pt x="681607" y="233917"/>
                    </a:cubicBezTo>
                    <a:lnTo>
                      <a:pt x="116958" y="233917"/>
                    </a:lnTo>
                    <a:cubicBezTo>
                      <a:pt x="52364" y="233917"/>
                      <a:pt x="0" y="181553"/>
                      <a:pt x="0" y="116958"/>
                    </a:cubicBezTo>
                    <a:lnTo>
                      <a:pt x="0" y="116958"/>
                    </a:lnTo>
                    <a:cubicBezTo>
                      <a:pt x="0" y="52364"/>
                      <a:pt x="52364" y="0"/>
                      <a:pt x="116958" y="0"/>
                    </a:cubicBezTo>
                    <a:close/>
                  </a:path>
                </a:pathLst>
              </a:custGeom>
              <a:solidFill>
                <a:srgbClr val="1E2350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0" y="-38100"/>
                <a:ext cx="798565" cy="272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09"/>
                  </a:lnSpc>
                </a:pPr>
                <a:endParaRPr/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68640" y="338428"/>
              <a:ext cx="6253124" cy="8415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84"/>
                </a:lnSpc>
                <a:spcBef>
                  <a:spcPct val="0"/>
                </a:spcBef>
              </a:pPr>
              <a:r>
                <a:rPr lang="en-US" sz="207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Demo: </a:t>
              </a:r>
              <a:r>
                <a:rPr lang="en-US" sz="2070" dirty="0">
                  <a:solidFill>
                    <a:schemeClr val="bg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4" tooltip="https://github.com/vinay3717/Vyapar-Sathi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https://github.com/vinay3717/Vyapar-Sathi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80" y="61722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380" y="1097280"/>
            <a:ext cx="15910560" cy="960120"/>
            <a:chOff x="0" y="0"/>
            <a:chExt cx="2121408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4080" cy="1280160"/>
            </a:xfrm>
            <a:custGeom>
              <a:avLst/>
              <a:gdLst/>
              <a:ahLst/>
              <a:cxnLst/>
              <a:rect l="l" t="t" r="r" b="b"/>
              <a:pathLst>
                <a:path w="21214080" h="1280160">
                  <a:moveTo>
                    <a:pt x="0" y="0"/>
                  </a:moveTo>
                  <a:lnTo>
                    <a:pt x="21214080" y="0"/>
                  </a:lnTo>
                  <a:lnTo>
                    <a:pt x="21214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2894" b="-27289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21408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957"/>
                </a:lnSpc>
              </a:pPr>
              <a:r>
                <a:rPr lang="en-US" sz="40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Built for real. Demo-ready on Day 1.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4855" y="2390775"/>
            <a:ext cx="8454390" cy="6945630"/>
            <a:chOff x="0" y="0"/>
            <a:chExt cx="11272520" cy="9260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72520" cy="9260840"/>
            </a:xfrm>
            <a:custGeom>
              <a:avLst/>
              <a:gdLst/>
              <a:ahLst/>
              <a:cxnLst/>
              <a:rect l="l" t="t" r="r" b="b"/>
              <a:pathLst>
                <a:path w="11272520" h="9260840">
                  <a:moveTo>
                    <a:pt x="0" y="0"/>
                  </a:moveTo>
                  <a:lnTo>
                    <a:pt x="11272520" y="0"/>
                  </a:lnTo>
                  <a:lnTo>
                    <a:pt x="11272520" y="9260840"/>
                  </a:lnTo>
                  <a:lnTo>
                    <a:pt x="0" y="92608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165860" y="2674620"/>
            <a:ext cx="5486400" cy="411480"/>
            <a:chOff x="0" y="0"/>
            <a:chExt cx="7315200" cy="5486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SCENARIO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5860" y="3086100"/>
            <a:ext cx="7612380" cy="548640"/>
            <a:chOff x="0" y="0"/>
            <a:chExt cx="1014984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49840" cy="731520"/>
            </a:xfrm>
            <a:custGeom>
              <a:avLst/>
              <a:gdLst/>
              <a:ahLst/>
              <a:cxnLst/>
              <a:rect l="l" t="t" r="r" b="b"/>
              <a:pathLst>
                <a:path w="10149840" h="731520">
                  <a:moveTo>
                    <a:pt x="0" y="0"/>
                  </a:moveTo>
                  <a:lnTo>
                    <a:pt x="10149840" y="0"/>
                  </a:lnTo>
                  <a:lnTo>
                    <a:pt x="1014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354" b="-22035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01498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Raju · Kirana Store · Dharavi, Mumbai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5860" y="3840480"/>
            <a:ext cx="685800" cy="685800"/>
            <a:chOff x="0" y="0"/>
            <a:chExt cx="91440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534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65860" y="3813048"/>
            <a:ext cx="685800" cy="685800"/>
            <a:chOff x="0" y="0"/>
            <a:chExt cx="91440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98548" y="3785616"/>
            <a:ext cx="5486400" cy="384048"/>
            <a:chOff x="0" y="0"/>
            <a:chExt cx="7315200" cy="5120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3152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weeks ago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98548" y="4169664"/>
            <a:ext cx="6652260" cy="466344"/>
            <a:chOff x="0" y="0"/>
            <a:chExt cx="8869680" cy="6217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869680" cy="621792"/>
            </a:xfrm>
            <a:custGeom>
              <a:avLst/>
              <a:gdLst/>
              <a:ahLst/>
              <a:cxnLst/>
              <a:rect l="l" t="t" r="r" b="b"/>
              <a:pathLst>
                <a:path w="8869680" h="621792">
                  <a:moveTo>
                    <a:pt x="0" y="0"/>
                  </a:moveTo>
                  <a:lnTo>
                    <a:pt x="8869680" y="0"/>
                  </a:lnTo>
                  <a:lnTo>
                    <a:pt x="886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948" b="-22794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869680" cy="6694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 20% discount → revenue dropped 35%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98548" y="4636008"/>
            <a:ext cx="6652260" cy="411480"/>
            <a:chOff x="0" y="0"/>
            <a:chExt cx="8869680" cy="5486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869680" cy="548640"/>
            </a:xfrm>
            <a:custGeom>
              <a:avLst/>
              <a:gdLst/>
              <a:ahLst/>
              <a:cxnLst/>
              <a:rect l="l" t="t" r="r" b="b"/>
              <a:pathLst>
                <a:path w="8869680" h="548640">
                  <a:moveTo>
                    <a:pt x="0" y="0"/>
                  </a:moveTo>
                  <a:lnTo>
                    <a:pt x="8869680" y="0"/>
                  </a:lnTo>
                  <a:lnTo>
                    <a:pt x="8869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008" b="-26500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88696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C979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discount_20pct → negative → -35%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65860" y="5280660"/>
            <a:ext cx="685800" cy="685800"/>
            <a:chOff x="0" y="0"/>
            <a:chExt cx="91440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BAE66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65860" y="5253228"/>
            <a:ext cx="685800" cy="685800"/>
            <a:chOff x="0" y="0"/>
            <a:chExt cx="9144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098548" y="5225796"/>
            <a:ext cx="5486400" cy="384048"/>
            <a:chOff x="0" y="0"/>
            <a:chExt cx="7315200" cy="5120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15200" cy="512064"/>
            </a:xfrm>
            <a:custGeom>
              <a:avLst/>
              <a:gdLst/>
              <a:ahLst/>
              <a:cxnLst/>
              <a:rect l="l" t="t" r="r" b="b"/>
              <a:pathLst>
                <a:path w="7315200" h="512064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3152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weeks ago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098548" y="5609844"/>
            <a:ext cx="6652260" cy="466344"/>
            <a:chOff x="0" y="0"/>
            <a:chExt cx="8869680" cy="6217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869680" cy="621792"/>
            </a:xfrm>
            <a:custGeom>
              <a:avLst/>
              <a:gdLst/>
              <a:ahLst/>
              <a:cxnLst/>
              <a:rect l="l" t="t" r="r" b="b"/>
              <a:pathLst>
                <a:path w="8869680" h="621792">
                  <a:moveTo>
                    <a:pt x="0" y="0"/>
                  </a:moveTo>
                  <a:lnTo>
                    <a:pt x="8869680" y="0"/>
                  </a:lnTo>
                  <a:lnTo>
                    <a:pt x="886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948" b="-22794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869680" cy="6694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Opened at 7am instead of 9am → revenue up 25%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098548" y="6076188"/>
            <a:ext cx="6652260" cy="411480"/>
            <a:chOff x="0" y="0"/>
            <a:chExt cx="886968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869680" cy="548640"/>
            </a:xfrm>
            <a:custGeom>
              <a:avLst/>
              <a:gdLst/>
              <a:ahLst/>
              <a:cxnLst/>
              <a:rect l="l" t="t" r="r" b="b"/>
              <a:pathLst>
                <a:path w="8869680" h="548640">
                  <a:moveTo>
                    <a:pt x="0" y="0"/>
                  </a:moveTo>
                  <a:lnTo>
                    <a:pt x="8869680" y="0"/>
                  </a:lnTo>
                  <a:lnTo>
                    <a:pt x="8869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008" b="-26500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88696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C979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early_open → positive → +25%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 rot="8580">
            <a:off x="1156325" y="6743510"/>
            <a:ext cx="7631449" cy="0"/>
          </a:xfrm>
          <a:prstGeom prst="line">
            <a:avLst/>
          </a:prstGeom>
          <a:ln w="9525" cap="rnd">
            <a:solidFill>
              <a:srgbClr val="E7E2D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5" name="Group 45"/>
          <p:cNvGrpSpPr/>
          <p:nvPr/>
        </p:nvGrpSpPr>
        <p:grpSpPr>
          <a:xfrm>
            <a:off x="1165860" y="6995160"/>
            <a:ext cx="685800" cy="685800"/>
            <a:chOff x="0" y="0"/>
            <a:chExt cx="914400" cy="914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E8EDE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165860" y="6967728"/>
            <a:ext cx="685800" cy="685800"/>
            <a:chOff x="0" y="0"/>
            <a:chExt cx="914400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🔔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098548" y="6940296"/>
            <a:ext cx="6652260" cy="411480"/>
            <a:chOff x="0" y="0"/>
            <a:chExt cx="8869680" cy="548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869680" cy="548640"/>
            </a:xfrm>
            <a:custGeom>
              <a:avLst/>
              <a:gdLst/>
              <a:ahLst/>
              <a:cxnLst/>
              <a:rect l="l" t="t" r="r" b="b"/>
              <a:pathLst>
                <a:path w="8869680" h="548640">
                  <a:moveTo>
                    <a:pt x="0" y="0"/>
                  </a:moveTo>
                  <a:lnTo>
                    <a:pt x="8869680" y="0"/>
                  </a:lnTo>
                  <a:lnTo>
                    <a:pt x="8869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008" b="-26500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88696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This Monday — n8n triggers agent automatically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98548" y="7351776"/>
            <a:ext cx="6652260" cy="384048"/>
            <a:chOff x="0" y="0"/>
            <a:chExt cx="8869680" cy="51206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869680" cy="512064"/>
            </a:xfrm>
            <a:custGeom>
              <a:avLst/>
              <a:gdLst/>
              <a:ahLst/>
              <a:cxnLst/>
              <a:rect l="l" t="t" r="r" b="b"/>
              <a:pathLst>
                <a:path w="8869680" h="512064">
                  <a:moveTo>
                    <a:pt x="0" y="0"/>
                  </a:moveTo>
                  <a:lnTo>
                    <a:pt x="8869680" y="0"/>
                  </a:lnTo>
                  <a:lnTo>
                    <a:pt x="8869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88696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Raju hears in Hindi — before his week starts: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65860" y="7818120"/>
            <a:ext cx="7612380" cy="1440180"/>
            <a:chOff x="0" y="0"/>
            <a:chExt cx="10149840" cy="19202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149840" cy="1920240"/>
            </a:xfrm>
            <a:custGeom>
              <a:avLst/>
              <a:gdLst/>
              <a:ahLst/>
              <a:cxnLst/>
              <a:rect l="l" t="t" r="r" b="b"/>
              <a:pathLst>
                <a:path w="10149840" h="1920240">
                  <a:moveTo>
                    <a:pt x="0" y="0"/>
                  </a:moveTo>
                  <a:lnTo>
                    <a:pt x="10149840" y="0"/>
                  </a:lnTo>
                  <a:lnTo>
                    <a:pt x="1014984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508760" y="7955280"/>
            <a:ext cx="6926580" cy="1165860"/>
            <a:chOff x="0" y="0"/>
            <a:chExt cx="9235440" cy="15544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235440" cy="1554480"/>
            </a:xfrm>
            <a:custGeom>
              <a:avLst/>
              <a:gdLst/>
              <a:ahLst/>
              <a:cxnLst/>
              <a:rect l="l" t="t" r="r" b="b"/>
              <a:pathLst>
                <a:path w="9235440" h="1554480">
                  <a:moveTo>
                    <a:pt x="0" y="0"/>
                  </a:moveTo>
                  <a:lnTo>
                    <a:pt x="9235440" y="0"/>
                  </a:lnTo>
                  <a:lnTo>
                    <a:pt x="92354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764" b="-65764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9235440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6"/>
                </a:lnSpc>
              </a:pPr>
              <a:r>
                <a:rPr lang="en-US" sz="1650" i="1">
                  <a:solidFill>
                    <a:srgbClr val="F1EEFB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“Namaste Raju bhai. Pichhli baar 20% discount se kamai 35% kum hui. Is baar subah 7 baje kholne ki koshish karein — chhe hafte pehle isse 25% zyada kamai hui thi.”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669780" y="2400300"/>
            <a:ext cx="7859268" cy="6926580"/>
            <a:chOff x="0" y="0"/>
            <a:chExt cx="10479024" cy="92354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479024" cy="9235440"/>
            </a:xfrm>
            <a:custGeom>
              <a:avLst/>
              <a:gdLst/>
              <a:ahLst/>
              <a:cxnLst/>
              <a:rect l="l" t="t" r="r" b="b"/>
              <a:pathLst>
                <a:path w="10479024" h="9235440">
                  <a:moveTo>
                    <a:pt x="0" y="0"/>
                  </a:moveTo>
                  <a:lnTo>
                    <a:pt x="10479024" y="0"/>
                  </a:lnTo>
                  <a:lnTo>
                    <a:pt x="10479024" y="9235440"/>
                  </a:lnTo>
                  <a:lnTo>
                    <a:pt x="0" y="9235440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0081260" y="2674620"/>
            <a:ext cx="4800600" cy="411480"/>
            <a:chOff x="0" y="0"/>
            <a:chExt cx="6400800" cy="5486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400800" cy="548640"/>
            </a:xfrm>
            <a:custGeom>
              <a:avLst/>
              <a:gdLst/>
              <a:ahLst/>
              <a:cxnLst/>
              <a:rect l="l" t="t" r="r" b="b"/>
              <a:pathLst>
                <a:path w="6400800" h="54864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6400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FLOW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71735" y="3241167"/>
            <a:ext cx="7055358" cy="869442"/>
            <a:chOff x="0" y="0"/>
            <a:chExt cx="9407144" cy="115925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407144" cy="1159256"/>
            </a:xfrm>
            <a:custGeom>
              <a:avLst/>
              <a:gdLst/>
              <a:ahLst/>
              <a:cxnLst/>
              <a:rect l="l" t="t" r="r" b="b"/>
              <a:pathLst>
                <a:path w="9407144" h="1159256">
                  <a:moveTo>
                    <a:pt x="0" y="0"/>
                  </a:moveTo>
                  <a:lnTo>
                    <a:pt x="9407144" y="0"/>
                  </a:lnTo>
                  <a:lnTo>
                    <a:pt x="9407144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E2350"/>
            </a:solidFill>
            <a:ln w="19050" cap="sq">
              <a:solidFill>
                <a:srgbClr val="33396B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0287000" y="3456432"/>
            <a:ext cx="6624828" cy="411480"/>
            <a:chOff x="0" y="0"/>
            <a:chExt cx="8833104" cy="5486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833104" cy="548640"/>
            </a:xfrm>
            <a:custGeom>
              <a:avLst/>
              <a:gdLst/>
              <a:ahLst/>
              <a:cxnLst/>
              <a:rect l="l" t="t" r="r" b="b"/>
              <a:pathLst>
                <a:path w="8833104" h="548640">
                  <a:moveTo>
                    <a:pt x="0" y="0"/>
                  </a:moveTo>
                  <a:lnTo>
                    <a:pt x="8833104" y="0"/>
                  </a:lnTo>
                  <a:lnTo>
                    <a:pt x="88331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709" b="-263709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883310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Paytm Transaction Data</a:t>
              </a:r>
            </a:p>
          </p:txBody>
        </p:sp>
      </p:grpSp>
      <p:sp>
        <p:nvSpPr>
          <p:cNvPr id="71" name="AutoShape 71"/>
          <p:cNvSpPr/>
          <p:nvPr/>
        </p:nvSpPr>
        <p:spPr>
          <a:xfrm rot="4635120">
            <a:off x="13513089" y="4170426"/>
            <a:ext cx="172660" cy="0"/>
          </a:xfrm>
          <a:prstGeom prst="line">
            <a:avLst/>
          </a:prstGeom>
          <a:ln w="19050" cap="rnd">
            <a:solidFill>
              <a:srgbClr val="F2A93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72" name="Group 72"/>
          <p:cNvGrpSpPr/>
          <p:nvPr/>
        </p:nvGrpSpPr>
        <p:grpSpPr>
          <a:xfrm>
            <a:off x="10071735" y="4249293"/>
            <a:ext cx="7055358" cy="869442"/>
            <a:chOff x="0" y="0"/>
            <a:chExt cx="9407144" cy="115925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407144" cy="1159256"/>
            </a:xfrm>
            <a:custGeom>
              <a:avLst/>
              <a:gdLst/>
              <a:ahLst/>
              <a:cxnLst/>
              <a:rect l="l" t="t" r="r" b="b"/>
              <a:pathLst>
                <a:path w="9407144" h="1159256">
                  <a:moveTo>
                    <a:pt x="0" y="0"/>
                  </a:moveTo>
                  <a:lnTo>
                    <a:pt x="9407144" y="0"/>
                  </a:lnTo>
                  <a:lnTo>
                    <a:pt x="9407144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E2350"/>
            </a:solidFill>
            <a:ln w="19050" cap="sq">
              <a:solidFill>
                <a:srgbClr val="33396B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10287000" y="4327398"/>
            <a:ext cx="6624828" cy="411480"/>
            <a:chOff x="0" y="0"/>
            <a:chExt cx="8833104" cy="5486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833104" cy="548640"/>
            </a:xfrm>
            <a:custGeom>
              <a:avLst/>
              <a:gdLst/>
              <a:ahLst/>
              <a:cxnLst/>
              <a:rect l="l" t="t" r="r" b="b"/>
              <a:pathLst>
                <a:path w="8833104" h="548640">
                  <a:moveTo>
                    <a:pt x="0" y="0"/>
                  </a:moveTo>
                  <a:lnTo>
                    <a:pt x="8833104" y="0"/>
                  </a:lnTo>
                  <a:lnTo>
                    <a:pt x="88331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709" b="-263709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883310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Cognee Knowledge Graph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287000" y="4711446"/>
            <a:ext cx="6624828" cy="342900"/>
            <a:chOff x="0" y="0"/>
            <a:chExt cx="8833104" cy="4572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833104" cy="457200"/>
            </a:xfrm>
            <a:custGeom>
              <a:avLst/>
              <a:gdLst/>
              <a:ahLst/>
              <a:cxnLst/>
              <a:rect l="l" t="t" r="r" b="b"/>
              <a:pathLst>
                <a:path w="8833104" h="457200">
                  <a:moveTo>
                    <a:pt x="0" y="0"/>
                  </a:moveTo>
                  <a:lnTo>
                    <a:pt x="8833104" y="0"/>
                  </a:lnTo>
                  <a:lnTo>
                    <a:pt x="883310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450" b="-326450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28575"/>
              <a:ext cx="8833104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9EA2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(causal memory: decision → outcome)</a:t>
              </a:r>
            </a:p>
          </p:txBody>
        </p:sp>
      </p:grpSp>
      <p:sp>
        <p:nvSpPr>
          <p:cNvPr id="80" name="AutoShape 80"/>
          <p:cNvSpPr/>
          <p:nvPr/>
        </p:nvSpPr>
        <p:spPr>
          <a:xfrm rot="4635120">
            <a:off x="13513089" y="5178552"/>
            <a:ext cx="172660" cy="0"/>
          </a:xfrm>
          <a:prstGeom prst="line">
            <a:avLst/>
          </a:prstGeom>
          <a:ln w="19050" cap="rnd">
            <a:solidFill>
              <a:srgbClr val="F2A93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81" name="Group 81"/>
          <p:cNvGrpSpPr/>
          <p:nvPr/>
        </p:nvGrpSpPr>
        <p:grpSpPr>
          <a:xfrm>
            <a:off x="10071735" y="5257419"/>
            <a:ext cx="7055358" cy="869442"/>
            <a:chOff x="0" y="0"/>
            <a:chExt cx="9407144" cy="115925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407144" cy="1159256"/>
            </a:xfrm>
            <a:custGeom>
              <a:avLst/>
              <a:gdLst/>
              <a:ahLst/>
              <a:cxnLst/>
              <a:rect l="l" t="t" r="r" b="b"/>
              <a:pathLst>
                <a:path w="9407144" h="1159256">
                  <a:moveTo>
                    <a:pt x="0" y="0"/>
                  </a:moveTo>
                  <a:lnTo>
                    <a:pt x="9407144" y="0"/>
                  </a:lnTo>
                  <a:lnTo>
                    <a:pt x="9407144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E2350"/>
            </a:solidFill>
            <a:ln w="19050" cap="sq">
              <a:solidFill>
                <a:srgbClr val="33396B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10287000" y="5335524"/>
            <a:ext cx="6624828" cy="411480"/>
            <a:chOff x="0" y="0"/>
            <a:chExt cx="8833104" cy="54864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833104" cy="548640"/>
            </a:xfrm>
            <a:custGeom>
              <a:avLst/>
              <a:gdLst/>
              <a:ahLst/>
              <a:cxnLst/>
              <a:rect l="l" t="t" r="r" b="b"/>
              <a:pathLst>
                <a:path w="8833104" h="548640">
                  <a:moveTo>
                    <a:pt x="0" y="0"/>
                  </a:moveTo>
                  <a:lnTo>
                    <a:pt x="8833104" y="0"/>
                  </a:lnTo>
                  <a:lnTo>
                    <a:pt x="88331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709" b="-263709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883310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LangGraph Agent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287000" y="5719572"/>
            <a:ext cx="6624828" cy="342900"/>
            <a:chOff x="0" y="0"/>
            <a:chExt cx="8833104" cy="4572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833104" cy="457200"/>
            </a:xfrm>
            <a:custGeom>
              <a:avLst/>
              <a:gdLst/>
              <a:ahLst/>
              <a:cxnLst/>
              <a:rect l="l" t="t" r="r" b="b"/>
              <a:pathLst>
                <a:path w="8833104" h="457200">
                  <a:moveTo>
                    <a:pt x="0" y="0"/>
                  </a:moveTo>
                  <a:lnTo>
                    <a:pt x="8833104" y="0"/>
                  </a:lnTo>
                  <a:lnTo>
                    <a:pt x="883310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450" b="-326450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28575"/>
              <a:ext cx="8833104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9EA2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(pattern_node → suggestion_node)</a:t>
              </a:r>
            </a:p>
          </p:txBody>
        </p:sp>
      </p:grpSp>
      <p:sp>
        <p:nvSpPr>
          <p:cNvPr id="89" name="AutoShape 89"/>
          <p:cNvSpPr/>
          <p:nvPr/>
        </p:nvSpPr>
        <p:spPr>
          <a:xfrm rot="4635120">
            <a:off x="13513089" y="6186678"/>
            <a:ext cx="172660" cy="0"/>
          </a:xfrm>
          <a:prstGeom prst="line">
            <a:avLst/>
          </a:prstGeom>
          <a:ln w="19050" cap="rnd">
            <a:solidFill>
              <a:srgbClr val="F2A93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90" name="Group 90"/>
          <p:cNvGrpSpPr/>
          <p:nvPr/>
        </p:nvGrpSpPr>
        <p:grpSpPr>
          <a:xfrm>
            <a:off x="10071735" y="6265545"/>
            <a:ext cx="7055358" cy="869442"/>
            <a:chOff x="0" y="0"/>
            <a:chExt cx="9407144" cy="1159256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9407144" cy="1159256"/>
            </a:xfrm>
            <a:custGeom>
              <a:avLst/>
              <a:gdLst/>
              <a:ahLst/>
              <a:cxnLst/>
              <a:rect l="l" t="t" r="r" b="b"/>
              <a:pathLst>
                <a:path w="9407144" h="1159256">
                  <a:moveTo>
                    <a:pt x="0" y="0"/>
                  </a:moveTo>
                  <a:lnTo>
                    <a:pt x="9407144" y="0"/>
                  </a:lnTo>
                  <a:lnTo>
                    <a:pt x="9407144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E2350"/>
            </a:solidFill>
            <a:ln w="19050" cap="sq">
              <a:solidFill>
                <a:srgbClr val="33396B"/>
              </a:solidFill>
              <a:prstDash val="solid"/>
              <a:miter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10287000" y="6343650"/>
            <a:ext cx="6624828" cy="411480"/>
            <a:chOff x="0" y="0"/>
            <a:chExt cx="8833104" cy="54864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8833104" cy="548640"/>
            </a:xfrm>
            <a:custGeom>
              <a:avLst/>
              <a:gdLst/>
              <a:ahLst/>
              <a:cxnLst/>
              <a:rect l="l" t="t" r="r" b="b"/>
              <a:pathLst>
                <a:path w="8833104" h="548640">
                  <a:moveTo>
                    <a:pt x="0" y="0"/>
                  </a:moveTo>
                  <a:lnTo>
                    <a:pt x="8833104" y="0"/>
                  </a:lnTo>
                  <a:lnTo>
                    <a:pt x="88331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709" b="-263709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883310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Gemini 3.8 Flash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0287000" y="6727698"/>
            <a:ext cx="6624828" cy="342900"/>
            <a:chOff x="0" y="0"/>
            <a:chExt cx="8833104" cy="4572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8833104" cy="457200"/>
            </a:xfrm>
            <a:custGeom>
              <a:avLst/>
              <a:gdLst/>
              <a:ahLst/>
              <a:cxnLst/>
              <a:rect l="l" t="t" r="r" b="b"/>
              <a:pathLst>
                <a:path w="8833104" h="457200">
                  <a:moveTo>
                    <a:pt x="0" y="0"/>
                  </a:moveTo>
                  <a:lnTo>
                    <a:pt x="8833104" y="0"/>
                  </a:lnTo>
                  <a:lnTo>
                    <a:pt x="883310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450" b="-326450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28575"/>
              <a:ext cx="8833104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9EA2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(generates Hindi voice_script)</a:t>
              </a:r>
            </a:p>
          </p:txBody>
        </p:sp>
      </p:grpSp>
      <p:sp>
        <p:nvSpPr>
          <p:cNvPr id="98" name="AutoShape 98"/>
          <p:cNvSpPr/>
          <p:nvPr/>
        </p:nvSpPr>
        <p:spPr>
          <a:xfrm rot="4635120">
            <a:off x="13513089" y="7194804"/>
            <a:ext cx="172660" cy="0"/>
          </a:xfrm>
          <a:prstGeom prst="line">
            <a:avLst/>
          </a:prstGeom>
          <a:ln w="19050" cap="rnd">
            <a:solidFill>
              <a:srgbClr val="F2A93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99" name="Group 99"/>
          <p:cNvGrpSpPr/>
          <p:nvPr/>
        </p:nvGrpSpPr>
        <p:grpSpPr>
          <a:xfrm>
            <a:off x="10071735" y="7273671"/>
            <a:ext cx="7055358" cy="869442"/>
            <a:chOff x="0" y="0"/>
            <a:chExt cx="9407144" cy="1159256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9407144" cy="1159256"/>
            </a:xfrm>
            <a:custGeom>
              <a:avLst/>
              <a:gdLst/>
              <a:ahLst/>
              <a:cxnLst/>
              <a:rect l="l" t="t" r="r" b="b"/>
              <a:pathLst>
                <a:path w="9407144" h="1159256">
                  <a:moveTo>
                    <a:pt x="0" y="0"/>
                  </a:moveTo>
                  <a:lnTo>
                    <a:pt x="9407144" y="0"/>
                  </a:lnTo>
                  <a:lnTo>
                    <a:pt x="9407144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E2350"/>
            </a:solidFill>
            <a:ln w="19050" cap="sq">
              <a:solidFill>
                <a:srgbClr val="33396B"/>
              </a:solidFill>
              <a:prstDash val="solid"/>
              <a:miter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10287000" y="7351776"/>
            <a:ext cx="6624828" cy="411480"/>
            <a:chOff x="0" y="0"/>
            <a:chExt cx="8833104" cy="54864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8833104" cy="548640"/>
            </a:xfrm>
            <a:custGeom>
              <a:avLst/>
              <a:gdLst/>
              <a:ahLst/>
              <a:cxnLst/>
              <a:rect l="l" t="t" r="r" b="b"/>
              <a:pathLst>
                <a:path w="8833104" h="548640">
                  <a:moveTo>
                    <a:pt x="0" y="0"/>
                  </a:moveTo>
                  <a:lnTo>
                    <a:pt x="8833104" y="0"/>
                  </a:lnTo>
                  <a:lnTo>
                    <a:pt x="88331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709" b="-263709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883310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Sarvam Bulbul v3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287000" y="7735824"/>
            <a:ext cx="6624828" cy="342900"/>
            <a:chOff x="0" y="0"/>
            <a:chExt cx="8833104" cy="45720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8833104" cy="457200"/>
            </a:xfrm>
            <a:custGeom>
              <a:avLst/>
              <a:gdLst/>
              <a:ahLst/>
              <a:cxnLst/>
              <a:rect l="l" t="t" r="r" b="b"/>
              <a:pathLst>
                <a:path w="8833104" h="457200">
                  <a:moveTo>
                    <a:pt x="0" y="0"/>
                  </a:moveTo>
                  <a:lnTo>
                    <a:pt x="8833104" y="0"/>
                  </a:lnTo>
                  <a:lnTo>
                    <a:pt x="883310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450" b="-326450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28575"/>
              <a:ext cx="8833104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9EA2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(natural Hindi/Marathi audio)</a:t>
              </a:r>
            </a:p>
          </p:txBody>
        </p:sp>
      </p:grpSp>
      <p:sp>
        <p:nvSpPr>
          <p:cNvPr id="107" name="AutoShape 107"/>
          <p:cNvSpPr/>
          <p:nvPr/>
        </p:nvSpPr>
        <p:spPr>
          <a:xfrm rot="4635120">
            <a:off x="13513089" y="8202930"/>
            <a:ext cx="172660" cy="0"/>
          </a:xfrm>
          <a:prstGeom prst="line">
            <a:avLst/>
          </a:prstGeom>
          <a:ln w="19050" cap="rnd">
            <a:solidFill>
              <a:srgbClr val="F2A93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08" name="Group 108"/>
          <p:cNvGrpSpPr/>
          <p:nvPr/>
        </p:nvGrpSpPr>
        <p:grpSpPr>
          <a:xfrm>
            <a:off x="10071735" y="8281797"/>
            <a:ext cx="7055358" cy="869442"/>
            <a:chOff x="0" y="0"/>
            <a:chExt cx="9407144" cy="1159256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9407144" cy="1159256"/>
            </a:xfrm>
            <a:custGeom>
              <a:avLst/>
              <a:gdLst/>
              <a:ahLst/>
              <a:cxnLst/>
              <a:rect l="l" t="t" r="r" b="b"/>
              <a:pathLst>
                <a:path w="9407144" h="1159256">
                  <a:moveTo>
                    <a:pt x="0" y="0"/>
                  </a:moveTo>
                  <a:lnTo>
                    <a:pt x="9407144" y="0"/>
                  </a:lnTo>
                  <a:lnTo>
                    <a:pt x="9407144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1E2350"/>
            </a:solidFill>
            <a:ln w="19050" cap="sq">
              <a:solidFill>
                <a:srgbClr val="33396B"/>
              </a:solidFill>
              <a:prstDash val="solid"/>
              <a:miter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10287000" y="8359902"/>
            <a:ext cx="6624828" cy="411480"/>
            <a:chOff x="0" y="0"/>
            <a:chExt cx="8833104" cy="54864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8833104" cy="548640"/>
            </a:xfrm>
            <a:custGeom>
              <a:avLst/>
              <a:gdLst/>
              <a:ahLst/>
              <a:cxnLst/>
              <a:rect l="l" t="t" r="r" b="b"/>
              <a:pathLst>
                <a:path w="8833104" h="548640">
                  <a:moveTo>
                    <a:pt x="0" y="0"/>
                  </a:moveTo>
                  <a:lnTo>
                    <a:pt x="8833104" y="0"/>
                  </a:lnTo>
                  <a:lnTo>
                    <a:pt x="88331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709" b="-263709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883310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n8n Scheduler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0287000" y="8743950"/>
            <a:ext cx="6624828" cy="342900"/>
            <a:chOff x="0" y="0"/>
            <a:chExt cx="8833104" cy="45720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8833104" cy="457200"/>
            </a:xfrm>
            <a:custGeom>
              <a:avLst/>
              <a:gdLst/>
              <a:ahLst/>
              <a:cxnLst/>
              <a:rect l="l" t="t" r="r" b="b"/>
              <a:pathLst>
                <a:path w="8833104" h="457200">
                  <a:moveTo>
                    <a:pt x="0" y="0"/>
                  </a:moveTo>
                  <a:lnTo>
                    <a:pt x="8833104" y="0"/>
                  </a:lnTo>
                  <a:lnTo>
                    <a:pt x="883310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450" b="-326450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28575"/>
              <a:ext cx="8833104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9EA2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(triggers every Monday — no prompt needed)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6911828" y="9532620"/>
            <a:ext cx="822960" cy="480060"/>
            <a:chOff x="0" y="0"/>
            <a:chExt cx="1097280" cy="64008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754380" y="9532620"/>
            <a:ext cx="5486400" cy="480060"/>
            <a:chOff x="0" y="0"/>
            <a:chExt cx="7315200" cy="64008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BDB6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VYAPAR SARTHI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80" y="61722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/ TECH STACK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380" y="1097280"/>
            <a:ext cx="15910560" cy="1577340"/>
            <a:chOff x="0" y="0"/>
            <a:chExt cx="21214080" cy="2103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4080" cy="2103120"/>
            </a:xfrm>
            <a:custGeom>
              <a:avLst/>
              <a:gdLst/>
              <a:ahLst/>
              <a:cxnLst/>
              <a:rect l="l" t="t" r="r" b="b"/>
              <a:pathLst>
                <a:path w="21214080" h="2103120">
                  <a:moveTo>
                    <a:pt x="0" y="0"/>
                  </a:moveTo>
                  <a:lnTo>
                    <a:pt x="21214080" y="0"/>
                  </a:lnTo>
                  <a:lnTo>
                    <a:pt x="212140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544" b="-14654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214080" cy="2112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73"/>
                </a:lnSpc>
              </a:pPr>
              <a:r>
                <a:rPr lang="en-US" sz="390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Every tool chosen for India.</a:t>
              </a:r>
            </a:p>
            <a:p>
              <a:pPr algn="l">
                <a:lnSpc>
                  <a:spcPts val="4773"/>
                </a:lnSpc>
              </a:pPr>
              <a:r>
                <a:rPr lang="en-US" sz="390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Every version production-ready.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380" y="2948940"/>
            <a:ext cx="10424160" cy="548640"/>
            <a:chOff x="0" y="0"/>
            <a:chExt cx="1389888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98880" cy="731520"/>
            </a:xfrm>
            <a:custGeom>
              <a:avLst/>
              <a:gdLst/>
              <a:ahLst/>
              <a:cxnLst/>
              <a:rect l="l" t="t" r="r" b="b"/>
              <a:pathLst>
                <a:path w="13898880" h="73152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8972" y="2948940"/>
            <a:ext cx="2468880" cy="548640"/>
            <a:chOff x="0" y="0"/>
            <a:chExt cx="32918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149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LAYER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662172" y="2948940"/>
            <a:ext cx="2400300" cy="548640"/>
            <a:chOff x="0" y="0"/>
            <a:chExt cx="320040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00400" cy="731520"/>
            </a:xfrm>
            <a:custGeom>
              <a:avLst/>
              <a:gdLst/>
              <a:ahLst/>
              <a:cxnLst/>
              <a:rect l="l" t="t" r="r" b="b"/>
              <a:pathLst>
                <a:path w="3200400" h="731520">
                  <a:moveTo>
                    <a:pt x="0" y="0"/>
                  </a:moveTo>
                  <a:lnTo>
                    <a:pt x="3200400" y="0"/>
                  </a:lnTo>
                  <a:lnTo>
                    <a:pt x="320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20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149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36792" y="2948940"/>
            <a:ext cx="4732020" cy="548640"/>
            <a:chOff x="0" y="0"/>
            <a:chExt cx="630936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09360" cy="731520"/>
            </a:xfrm>
            <a:custGeom>
              <a:avLst/>
              <a:gdLst/>
              <a:ahLst/>
              <a:cxnLst/>
              <a:rect l="l" t="t" r="r" b="b"/>
              <a:pathLst>
                <a:path w="6309360" h="73152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058" b="-11805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309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149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PURPOSE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9618" y="3492817"/>
            <a:ext cx="10433685" cy="613029"/>
            <a:chOff x="0" y="0"/>
            <a:chExt cx="13911580" cy="8173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911580" cy="817372"/>
            </a:xfrm>
            <a:custGeom>
              <a:avLst/>
              <a:gdLst/>
              <a:ahLst/>
              <a:cxnLst/>
              <a:rect l="l" t="t" r="r" b="b"/>
              <a:pathLst>
                <a:path w="13911580" h="817372">
                  <a:moveTo>
                    <a:pt x="0" y="0"/>
                  </a:moveTo>
                  <a:lnTo>
                    <a:pt x="13911580" y="0"/>
                  </a:lnTo>
                  <a:lnTo>
                    <a:pt x="13911580" y="817372"/>
                  </a:lnTo>
                  <a:lnTo>
                    <a:pt x="0" y="81737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18972" y="3497580"/>
            <a:ext cx="2468880" cy="603504"/>
            <a:chOff x="0" y="0"/>
            <a:chExt cx="3291840" cy="804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91840" cy="804672"/>
            </a:xfrm>
            <a:custGeom>
              <a:avLst/>
              <a:gdLst/>
              <a:ahLst/>
              <a:cxnLst/>
              <a:rect l="l" t="t" r="r" b="b"/>
              <a:pathLst>
                <a:path w="3291840" h="804672">
                  <a:moveTo>
                    <a:pt x="0" y="0"/>
                  </a:moveTo>
                  <a:lnTo>
                    <a:pt x="3291840" y="0"/>
                  </a:lnTo>
                  <a:lnTo>
                    <a:pt x="32918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11" b="-2971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2918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 Orchestration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62172" y="3497580"/>
            <a:ext cx="2400300" cy="603504"/>
            <a:chOff x="0" y="0"/>
            <a:chExt cx="3200400" cy="8046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00400" cy="804672"/>
            </a:xfrm>
            <a:custGeom>
              <a:avLst/>
              <a:gdLst/>
              <a:ahLst/>
              <a:cxnLst/>
              <a:rect l="l" t="t" r="r" b="b"/>
              <a:pathLst>
                <a:path w="3200400" h="804672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97" b="-2749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LangGraph 1.2.1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36792" y="3497580"/>
            <a:ext cx="4732020" cy="603504"/>
            <a:chOff x="0" y="0"/>
            <a:chExt cx="6309360" cy="8046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09360" cy="804672"/>
            </a:xfrm>
            <a:custGeom>
              <a:avLst/>
              <a:gdLst/>
              <a:ahLst/>
              <a:cxnLst/>
              <a:rect l="l" t="t" r="r" b="b"/>
              <a:pathLst>
                <a:path w="6309360" h="804672">
                  <a:moveTo>
                    <a:pt x="0" y="0"/>
                  </a:moveTo>
                  <a:lnTo>
                    <a:pt x="6309360" y="0"/>
                  </a:lnTo>
                  <a:lnTo>
                    <a:pt x="6309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780" b="-10278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309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3-node StateGraph: ingest → pattern → suggest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49618" y="4096322"/>
            <a:ext cx="10433685" cy="613029"/>
            <a:chOff x="0" y="0"/>
            <a:chExt cx="13911580" cy="8173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911580" cy="817372"/>
            </a:xfrm>
            <a:custGeom>
              <a:avLst/>
              <a:gdLst/>
              <a:ahLst/>
              <a:cxnLst/>
              <a:rect l="l" t="t" r="r" b="b"/>
              <a:pathLst>
                <a:path w="13911580" h="817372">
                  <a:moveTo>
                    <a:pt x="0" y="0"/>
                  </a:moveTo>
                  <a:lnTo>
                    <a:pt x="13911580" y="0"/>
                  </a:lnTo>
                  <a:lnTo>
                    <a:pt x="13911580" y="817372"/>
                  </a:lnTo>
                  <a:lnTo>
                    <a:pt x="0" y="817372"/>
                  </a:lnTo>
                  <a:close/>
                </a:path>
              </a:pathLst>
            </a:custGeom>
            <a:solidFill>
              <a:srgbClr val="F3EEE3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918972" y="4101084"/>
            <a:ext cx="2468880" cy="603504"/>
            <a:chOff x="0" y="0"/>
            <a:chExt cx="3291840" cy="8046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291840" cy="804672"/>
            </a:xfrm>
            <a:custGeom>
              <a:avLst/>
              <a:gdLst/>
              <a:ahLst/>
              <a:cxnLst/>
              <a:rect l="l" t="t" r="r" b="b"/>
              <a:pathLst>
                <a:path w="3291840" h="804672">
                  <a:moveTo>
                    <a:pt x="0" y="0"/>
                  </a:moveTo>
                  <a:lnTo>
                    <a:pt x="3291840" y="0"/>
                  </a:lnTo>
                  <a:lnTo>
                    <a:pt x="32918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11" b="-2971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2918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662172" y="4101084"/>
            <a:ext cx="2400300" cy="603504"/>
            <a:chOff x="0" y="0"/>
            <a:chExt cx="3200400" cy="8046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200400" cy="804672"/>
            </a:xfrm>
            <a:custGeom>
              <a:avLst/>
              <a:gdLst/>
              <a:ahLst/>
              <a:cxnLst/>
              <a:rect l="l" t="t" r="r" b="b"/>
              <a:pathLst>
                <a:path w="3200400" h="804672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97" b="-2749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Gemini 3.8 Flash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336792" y="4101084"/>
            <a:ext cx="4732020" cy="603504"/>
            <a:chOff x="0" y="0"/>
            <a:chExt cx="6309360" cy="80467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09360" cy="804672"/>
            </a:xfrm>
            <a:custGeom>
              <a:avLst/>
              <a:gdLst/>
              <a:ahLst/>
              <a:cxnLst/>
              <a:rect l="l" t="t" r="r" b="b"/>
              <a:pathLst>
                <a:path w="6309360" h="804672">
                  <a:moveTo>
                    <a:pt x="0" y="0"/>
                  </a:moveTo>
                  <a:lnTo>
                    <a:pt x="6309360" y="0"/>
                  </a:lnTo>
                  <a:lnTo>
                    <a:pt x="6309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780" b="-10278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6309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Hindi suggestion + voice script generation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9618" y="4699826"/>
            <a:ext cx="10433685" cy="613029"/>
            <a:chOff x="0" y="0"/>
            <a:chExt cx="13911580" cy="8173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911580" cy="817372"/>
            </a:xfrm>
            <a:custGeom>
              <a:avLst/>
              <a:gdLst/>
              <a:ahLst/>
              <a:cxnLst/>
              <a:rect l="l" t="t" r="r" b="b"/>
              <a:pathLst>
                <a:path w="13911580" h="817372">
                  <a:moveTo>
                    <a:pt x="0" y="0"/>
                  </a:moveTo>
                  <a:lnTo>
                    <a:pt x="13911580" y="0"/>
                  </a:lnTo>
                  <a:lnTo>
                    <a:pt x="13911580" y="817372"/>
                  </a:lnTo>
                  <a:lnTo>
                    <a:pt x="0" y="81737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918972" y="4704588"/>
            <a:ext cx="2468880" cy="603504"/>
            <a:chOff x="0" y="0"/>
            <a:chExt cx="3291840" cy="80467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291840" cy="804672"/>
            </a:xfrm>
            <a:custGeom>
              <a:avLst/>
              <a:gdLst/>
              <a:ahLst/>
              <a:cxnLst/>
              <a:rect l="l" t="t" r="r" b="b"/>
              <a:pathLst>
                <a:path w="3291840" h="804672">
                  <a:moveTo>
                    <a:pt x="0" y="0"/>
                  </a:moveTo>
                  <a:lnTo>
                    <a:pt x="3291840" y="0"/>
                  </a:lnTo>
                  <a:lnTo>
                    <a:pt x="32918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11" b="-2971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2918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Merchant Memory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62172" y="4704588"/>
            <a:ext cx="2400300" cy="603504"/>
            <a:chOff x="0" y="0"/>
            <a:chExt cx="3200400" cy="80467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200400" cy="804672"/>
            </a:xfrm>
            <a:custGeom>
              <a:avLst/>
              <a:gdLst/>
              <a:ahLst/>
              <a:cxnLst/>
              <a:rect l="l" t="t" r="r" b="b"/>
              <a:pathLst>
                <a:path w="3200400" h="804672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97" b="-27497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Cognee (latest)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336792" y="4704588"/>
            <a:ext cx="4732020" cy="603504"/>
            <a:chOff x="0" y="0"/>
            <a:chExt cx="6309360" cy="80467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309360" cy="804672"/>
            </a:xfrm>
            <a:custGeom>
              <a:avLst/>
              <a:gdLst/>
              <a:ahLst/>
              <a:cxnLst/>
              <a:rect l="l" t="t" r="r" b="b"/>
              <a:pathLst>
                <a:path w="6309360" h="804672">
                  <a:moveTo>
                    <a:pt x="0" y="0"/>
                  </a:moveTo>
                  <a:lnTo>
                    <a:pt x="6309360" y="0"/>
                  </a:lnTo>
                  <a:lnTo>
                    <a:pt x="6309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780" b="-10278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6309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Graph-native causal memory: decision → outcome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9618" y="5303330"/>
            <a:ext cx="10433685" cy="613029"/>
            <a:chOff x="0" y="0"/>
            <a:chExt cx="13911580" cy="81737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3911580" cy="817372"/>
            </a:xfrm>
            <a:custGeom>
              <a:avLst/>
              <a:gdLst/>
              <a:ahLst/>
              <a:cxnLst/>
              <a:rect l="l" t="t" r="r" b="b"/>
              <a:pathLst>
                <a:path w="13911580" h="817372">
                  <a:moveTo>
                    <a:pt x="0" y="0"/>
                  </a:moveTo>
                  <a:lnTo>
                    <a:pt x="13911580" y="0"/>
                  </a:lnTo>
                  <a:lnTo>
                    <a:pt x="13911580" y="817372"/>
                  </a:lnTo>
                  <a:lnTo>
                    <a:pt x="0" y="817372"/>
                  </a:lnTo>
                  <a:close/>
                </a:path>
              </a:pathLst>
            </a:custGeom>
            <a:solidFill>
              <a:srgbClr val="F3EEE3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918972" y="5308092"/>
            <a:ext cx="2468880" cy="603504"/>
            <a:chOff x="0" y="0"/>
            <a:chExt cx="3291840" cy="80467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291840" cy="804672"/>
            </a:xfrm>
            <a:custGeom>
              <a:avLst/>
              <a:gdLst/>
              <a:ahLst/>
              <a:cxnLst/>
              <a:rect l="l" t="t" r="r" b="b"/>
              <a:pathLst>
                <a:path w="3291840" h="804672">
                  <a:moveTo>
                    <a:pt x="0" y="0"/>
                  </a:moveTo>
                  <a:lnTo>
                    <a:pt x="3291840" y="0"/>
                  </a:lnTo>
                  <a:lnTo>
                    <a:pt x="32918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11" b="-29711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32918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Voice Output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662172" y="5308092"/>
            <a:ext cx="2400300" cy="603504"/>
            <a:chOff x="0" y="0"/>
            <a:chExt cx="3200400" cy="80467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200400" cy="804672"/>
            </a:xfrm>
            <a:custGeom>
              <a:avLst/>
              <a:gdLst/>
              <a:ahLst/>
              <a:cxnLst/>
              <a:rect l="l" t="t" r="r" b="b"/>
              <a:pathLst>
                <a:path w="3200400" h="804672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97" b="-2749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Sarvam Bulbul v3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336792" y="5308092"/>
            <a:ext cx="4732020" cy="603504"/>
            <a:chOff x="0" y="0"/>
            <a:chExt cx="6309360" cy="80467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309360" cy="804672"/>
            </a:xfrm>
            <a:custGeom>
              <a:avLst/>
              <a:gdLst/>
              <a:ahLst/>
              <a:cxnLst/>
              <a:rect l="l" t="t" r="r" b="b"/>
              <a:pathLst>
                <a:path w="6309360" h="804672">
                  <a:moveTo>
                    <a:pt x="0" y="0"/>
                  </a:moveTo>
                  <a:lnTo>
                    <a:pt x="6309360" y="0"/>
                  </a:lnTo>
                  <a:lnTo>
                    <a:pt x="6309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780" b="-102780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6309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Natural TTS in 11 Indian languages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49618" y="5906834"/>
            <a:ext cx="10433685" cy="613029"/>
            <a:chOff x="0" y="0"/>
            <a:chExt cx="13911580" cy="81737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3911580" cy="817372"/>
            </a:xfrm>
            <a:custGeom>
              <a:avLst/>
              <a:gdLst/>
              <a:ahLst/>
              <a:cxnLst/>
              <a:rect l="l" t="t" r="r" b="b"/>
              <a:pathLst>
                <a:path w="13911580" h="817372">
                  <a:moveTo>
                    <a:pt x="0" y="0"/>
                  </a:moveTo>
                  <a:lnTo>
                    <a:pt x="13911580" y="0"/>
                  </a:lnTo>
                  <a:lnTo>
                    <a:pt x="13911580" y="817372"/>
                  </a:lnTo>
                  <a:lnTo>
                    <a:pt x="0" y="81737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918972" y="5911596"/>
            <a:ext cx="2468880" cy="603504"/>
            <a:chOff x="0" y="0"/>
            <a:chExt cx="3291840" cy="80467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291840" cy="804672"/>
            </a:xfrm>
            <a:custGeom>
              <a:avLst/>
              <a:gdLst/>
              <a:ahLst/>
              <a:cxnLst/>
              <a:rect l="l" t="t" r="r" b="b"/>
              <a:pathLst>
                <a:path w="3291840" h="804672">
                  <a:moveTo>
                    <a:pt x="0" y="0"/>
                  </a:moveTo>
                  <a:lnTo>
                    <a:pt x="3291840" y="0"/>
                  </a:lnTo>
                  <a:lnTo>
                    <a:pt x="32918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11" b="-29711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32918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Workflow Trigger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662172" y="5911596"/>
            <a:ext cx="2400300" cy="603504"/>
            <a:chOff x="0" y="0"/>
            <a:chExt cx="3200400" cy="80467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200400" cy="804672"/>
            </a:xfrm>
            <a:custGeom>
              <a:avLst/>
              <a:gdLst/>
              <a:ahLst/>
              <a:cxnLst/>
              <a:rect l="l" t="t" r="r" b="b"/>
              <a:pathLst>
                <a:path w="3200400" h="804672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97" b="-27497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n8n (cloud)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336792" y="5911596"/>
            <a:ext cx="4732020" cy="603504"/>
            <a:chOff x="0" y="0"/>
            <a:chExt cx="6309360" cy="80467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309360" cy="804672"/>
            </a:xfrm>
            <a:custGeom>
              <a:avLst/>
              <a:gdLst/>
              <a:ahLst/>
              <a:cxnLst/>
              <a:rect l="l" t="t" r="r" b="b"/>
              <a:pathLst>
                <a:path w="6309360" h="804672">
                  <a:moveTo>
                    <a:pt x="0" y="0"/>
                  </a:moveTo>
                  <a:lnTo>
                    <a:pt x="6309360" y="0"/>
                  </a:lnTo>
                  <a:lnTo>
                    <a:pt x="6309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780" b="-10278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309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Autonomous weekly proactive trigger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49618" y="6510338"/>
            <a:ext cx="10433685" cy="613029"/>
            <a:chOff x="0" y="0"/>
            <a:chExt cx="13911580" cy="81737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3911580" cy="817372"/>
            </a:xfrm>
            <a:custGeom>
              <a:avLst/>
              <a:gdLst/>
              <a:ahLst/>
              <a:cxnLst/>
              <a:rect l="l" t="t" r="r" b="b"/>
              <a:pathLst>
                <a:path w="13911580" h="817372">
                  <a:moveTo>
                    <a:pt x="0" y="0"/>
                  </a:moveTo>
                  <a:lnTo>
                    <a:pt x="13911580" y="0"/>
                  </a:lnTo>
                  <a:lnTo>
                    <a:pt x="13911580" y="817372"/>
                  </a:lnTo>
                  <a:lnTo>
                    <a:pt x="0" y="817372"/>
                  </a:lnTo>
                  <a:close/>
                </a:path>
              </a:pathLst>
            </a:custGeom>
            <a:solidFill>
              <a:srgbClr val="F3EEE3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918972" y="6515100"/>
            <a:ext cx="2468880" cy="603504"/>
            <a:chOff x="0" y="0"/>
            <a:chExt cx="3291840" cy="80467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291840" cy="804672"/>
            </a:xfrm>
            <a:custGeom>
              <a:avLst/>
              <a:gdLst/>
              <a:ahLst/>
              <a:cxnLst/>
              <a:rect l="l" t="t" r="r" b="b"/>
              <a:pathLst>
                <a:path w="3291840" h="804672">
                  <a:moveTo>
                    <a:pt x="0" y="0"/>
                  </a:moveTo>
                  <a:lnTo>
                    <a:pt x="3291840" y="0"/>
                  </a:lnTo>
                  <a:lnTo>
                    <a:pt x="32918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11" b="-29711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32918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662172" y="6515100"/>
            <a:ext cx="2400300" cy="603504"/>
            <a:chOff x="0" y="0"/>
            <a:chExt cx="3200400" cy="80467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200400" cy="804672"/>
            </a:xfrm>
            <a:custGeom>
              <a:avLst/>
              <a:gdLst/>
              <a:ahLst/>
              <a:cxnLst/>
              <a:rect l="l" t="t" r="r" b="b"/>
              <a:pathLst>
                <a:path w="3200400" h="804672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97" b="-27497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 0.115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336792" y="6515100"/>
            <a:ext cx="4732020" cy="603504"/>
            <a:chOff x="0" y="0"/>
            <a:chExt cx="6309360" cy="80467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309360" cy="804672"/>
            </a:xfrm>
            <a:custGeom>
              <a:avLst/>
              <a:gdLst/>
              <a:ahLst/>
              <a:cxnLst/>
              <a:rect l="l" t="t" r="r" b="b"/>
              <a:pathLst>
                <a:path w="6309360" h="804672">
                  <a:moveTo>
                    <a:pt x="0" y="0"/>
                  </a:moveTo>
                  <a:lnTo>
                    <a:pt x="6309360" y="0"/>
                  </a:lnTo>
                  <a:lnTo>
                    <a:pt x="6309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780" b="-102780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6309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 API + LangGraph runtime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49618" y="7113842"/>
            <a:ext cx="10433685" cy="613029"/>
            <a:chOff x="0" y="0"/>
            <a:chExt cx="13911580" cy="81737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3911580" cy="817372"/>
            </a:xfrm>
            <a:custGeom>
              <a:avLst/>
              <a:gdLst/>
              <a:ahLst/>
              <a:cxnLst/>
              <a:rect l="l" t="t" r="r" b="b"/>
              <a:pathLst>
                <a:path w="13911580" h="817372">
                  <a:moveTo>
                    <a:pt x="0" y="0"/>
                  </a:moveTo>
                  <a:lnTo>
                    <a:pt x="13911580" y="0"/>
                  </a:lnTo>
                  <a:lnTo>
                    <a:pt x="13911580" y="817372"/>
                  </a:lnTo>
                  <a:lnTo>
                    <a:pt x="0" y="81737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918972" y="7118604"/>
            <a:ext cx="2468880" cy="603504"/>
            <a:chOff x="0" y="0"/>
            <a:chExt cx="3291840" cy="80467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291840" cy="804672"/>
            </a:xfrm>
            <a:custGeom>
              <a:avLst/>
              <a:gdLst/>
              <a:ahLst/>
              <a:cxnLst/>
              <a:rect l="l" t="t" r="r" b="b"/>
              <a:pathLst>
                <a:path w="3291840" h="804672">
                  <a:moveTo>
                    <a:pt x="0" y="0"/>
                  </a:moveTo>
                  <a:lnTo>
                    <a:pt x="3291840" y="0"/>
                  </a:lnTo>
                  <a:lnTo>
                    <a:pt x="32918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11" b="-29711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329184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662172" y="7118604"/>
            <a:ext cx="2400300" cy="603504"/>
            <a:chOff x="0" y="0"/>
            <a:chExt cx="3200400" cy="80467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3200400" cy="804672"/>
            </a:xfrm>
            <a:custGeom>
              <a:avLst/>
              <a:gdLst/>
              <a:ahLst/>
              <a:cxnLst/>
              <a:rect l="l" t="t" r="r" b="b"/>
              <a:pathLst>
                <a:path w="3200400" h="804672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97" b="-27497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Next.js 14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336792" y="7118604"/>
            <a:ext cx="4732020" cy="603504"/>
            <a:chOff x="0" y="0"/>
            <a:chExt cx="6309360" cy="804672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309360" cy="804672"/>
            </a:xfrm>
            <a:custGeom>
              <a:avLst/>
              <a:gdLst/>
              <a:ahLst/>
              <a:cxnLst/>
              <a:rect l="l" t="t" r="r" b="b"/>
              <a:pathLst>
                <a:path w="6309360" h="804672">
                  <a:moveTo>
                    <a:pt x="0" y="0"/>
                  </a:moveTo>
                  <a:lnTo>
                    <a:pt x="6309360" y="0"/>
                  </a:lnTo>
                  <a:lnTo>
                    <a:pt x="6309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780" b="-102780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6309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Merchant dashboard (secondary to voice)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1658600" y="2948940"/>
            <a:ext cx="5870448" cy="1028700"/>
            <a:chOff x="0" y="0"/>
            <a:chExt cx="7827264" cy="13716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7827264" cy="1371600"/>
            </a:xfrm>
            <a:custGeom>
              <a:avLst/>
              <a:gdLst/>
              <a:ahLst/>
              <a:cxnLst/>
              <a:rect l="l" t="t" r="r" b="b"/>
              <a:pathLst>
                <a:path w="7827264" h="1371600">
                  <a:moveTo>
                    <a:pt x="0" y="0"/>
                  </a:moveTo>
                  <a:lnTo>
                    <a:pt x="7827264" y="0"/>
                  </a:lnTo>
                  <a:lnTo>
                    <a:pt x="782726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12001500" y="3058668"/>
            <a:ext cx="5184648" cy="342900"/>
            <a:chOff x="0" y="0"/>
            <a:chExt cx="6912864" cy="4572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6912864" cy="457200"/>
            </a:xfrm>
            <a:custGeom>
              <a:avLst/>
              <a:gdLst/>
              <a:ahLst/>
              <a:cxnLst/>
              <a:rect l="l" t="t" r="r" b="b"/>
              <a:pathLst>
                <a:path w="6912864" h="457200">
                  <a:moveTo>
                    <a:pt x="0" y="0"/>
                  </a:moveTo>
                  <a:lnTo>
                    <a:pt x="6912864" y="0"/>
                  </a:lnTo>
                  <a:lnTo>
                    <a:pt x="691286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613" b="-244613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28575"/>
              <a:ext cx="6912864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 spc="225">
                  <a:solidFill>
                    <a:srgbClr val="1B1F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WITH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2001500" y="3387852"/>
            <a:ext cx="5184648" cy="480060"/>
            <a:chOff x="0" y="0"/>
            <a:chExt cx="6912864" cy="64008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6912864" cy="640080"/>
            </a:xfrm>
            <a:custGeom>
              <a:avLst/>
              <a:gdLst/>
              <a:ahLst/>
              <a:cxnLst/>
              <a:rect l="l" t="t" r="r" b="b"/>
              <a:pathLst>
                <a:path w="6912864" h="640080">
                  <a:moveTo>
                    <a:pt x="0" y="0"/>
                  </a:moveTo>
                  <a:lnTo>
                    <a:pt x="6912864" y="0"/>
                  </a:lnTo>
                  <a:lnTo>
                    <a:pt x="69128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438" b="-160438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6912864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Cognee  ·  Sarvam  ·  n8n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1658600" y="4320540"/>
            <a:ext cx="5870448" cy="411480"/>
            <a:chOff x="0" y="0"/>
            <a:chExt cx="7827264" cy="54864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7827264" cy="548640"/>
            </a:xfrm>
            <a:custGeom>
              <a:avLst/>
              <a:gdLst/>
              <a:ahLst/>
              <a:cxnLst/>
              <a:rect l="l" t="t" r="r" b="b"/>
              <a:pathLst>
                <a:path w="7827264" h="548640">
                  <a:moveTo>
                    <a:pt x="0" y="0"/>
                  </a:moveTo>
                  <a:lnTo>
                    <a:pt x="7827264" y="0"/>
                  </a:lnTo>
                  <a:lnTo>
                    <a:pt x="78272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986" b="-227986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782726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225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THIS STACK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1649075" y="4791075"/>
            <a:ext cx="5889498" cy="1390650"/>
            <a:chOff x="0" y="0"/>
            <a:chExt cx="7852664" cy="18542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7852664" cy="1854200"/>
            </a:xfrm>
            <a:custGeom>
              <a:avLst/>
              <a:gdLst/>
              <a:ahLst/>
              <a:cxnLst/>
              <a:rect l="l" t="t" r="r" b="b"/>
              <a:pathLst>
                <a:path w="7852664" h="1854200">
                  <a:moveTo>
                    <a:pt x="0" y="0"/>
                  </a:moveTo>
                  <a:lnTo>
                    <a:pt x="7852664" y="0"/>
                  </a:lnTo>
                  <a:lnTo>
                    <a:pt x="78526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109" name="Group 109"/>
          <p:cNvGrpSpPr/>
          <p:nvPr/>
        </p:nvGrpSpPr>
        <p:grpSpPr>
          <a:xfrm>
            <a:off x="11960352" y="4800600"/>
            <a:ext cx="5266944" cy="1371600"/>
            <a:chOff x="0" y="0"/>
            <a:chExt cx="7022592" cy="18288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7022592" cy="1828800"/>
            </a:xfrm>
            <a:custGeom>
              <a:avLst/>
              <a:gdLst/>
              <a:ahLst/>
              <a:cxnLst/>
              <a:rect l="l" t="t" r="r" b="b"/>
              <a:pathLst>
                <a:path w="7022592" h="1828800">
                  <a:moveTo>
                    <a:pt x="0" y="0"/>
                  </a:moveTo>
                  <a:lnTo>
                    <a:pt x="7022592" y="0"/>
                  </a:lnTo>
                  <a:lnTo>
                    <a:pt x="702259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22" b="-24822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57150"/>
              <a:ext cx="7022592" cy="1885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B1F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Sarvam is the only voice AI trained natively on 22 Indian languages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1649075" y="6368415"/>
            <a:ext cx="5889498" cy="1390650"/>
            <a:chOff x="0" y="0"/>
            <a:chExt cx="7852664" cy="18542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7852664" cy="1854200"/>
            </a:xfrm>
            <a:custGeom>
              <a:avLst/>
              <a:gdLst/>
              <a:ahLst/>
              <a:cxnLst/>
              <a:rect l="l" t="t" r="r" b="b"/>
              <a:pathLst>
                <a:path w="7852664" h="1854200">
                  <a:moveTo>
                    <a:pt x="0" y="0"/>
                  </a:moveTo>
                  <a:lnTo>
                    <a:pt x="7852664" y="0"/>
                  </a:lnTo>
                  <a:lnTo>
                    <a:pt x="78526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114" name="Group 114"/>
          <p:cNvGrpSpPr/>
          <p:nvPr/>
        </p:nvGrpSpPr>
        <p:grpSpPr>
          <a:xfrm>
            <a:off x="11960352" y="6377940"/>
            <a:ext cx="5266944" cy="1371600"/>
            <a:chOff x="0" y="0"/>
            <a:chExt cx="7022592" cy="182880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7022592" cy="1828800"/>
            </a:xfrm>
            <a:custGeom>
              <a:avLst/>
              <a:gdLst/>
              <a:ahLst/>
              <a:cxnLst/>
              <a:rect l="l" t="t" r="r" b="b"/>
              <a:pathLst>
                <a:path w="7022592" h="1828800">
                  <a:moveTo>
                    <a:pt x="0" y="0"/>
                  </a:moveTo>
                  <a:lnTo>
                    <a:pt x="7022592" y="0"/>
                  </a:lnTo>
                  <a:lnTo>
                    <a:pt x="702259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22" b="-24822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57150"/>
              <a:ext cx="7022592" cy="1885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B1F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Cognee's knowledge graph stores causal relationships — not just chat history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1649075" y="7945755"/>
            <a:ext cx="5889498" cy="1390650"/>
            <a:chOff x="0" y="0"/>
            <a:chExt cx="7852664" cy="185420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7852664" cy="1854200"/>
            </a:xfrm>
            <a:custGeom>
              <a:avLst/>
              <a:gdLst/>
              <a:ahLst/>
              <a:cxnLst/>
              <a:rect l="l" t="t" r="r" b="b"/>
              <a:pathLst>
                <a:path w="7852664" h="1854200">
                  <a:moveTo>
                    <a:pt x="0" y="0"/>
                  </a:moveTo>
                  <a:lnTo>
                    <a:pt x="7852664" y="0"/>
                  </a:lnTo>
                  <a:lnTo>
                    <a:pt x="78526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119" name="Group 119"/>
          <p:cNvGrpSpPr/>
          <p:nvPr/>
        </p:nvGrpSpPr>
        <p:grpSpPr>
          <a:xfrm>
            <a:off x="11960352" y="7955280"/>
            <a:ext cx="5266944" cy="1371600"/>
            <a:chOff x="0" y="0"/>
            <a:chExt cx="7022592" cy="18288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7022592" cy="1828800"/>
            </a:xfrm>
            <a:custGeom>
              <a:avLst/>
              <a:gdLst/>
              <a:ahLst/>
              <a:cxnLst/>
              <a:rect l="l" t="t" r="r" b="b"/>
              <a:pathLst>
                <a:path w="7022592" h="1828800">
                  <a:moveTo>
                    <a:pt x="0" y="0"/>
                  </a:moveTo>
                  <a:lnTo>
                    <a:pt x="7022592" y="0"/>
                  </a:lnTo>
                  <a:lnTo>
                    <a:pt x="702259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22" b="-24822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57150"/>
              <a:ext cx="7022592" cy="1885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1B1F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LangGraph enables stateful, multi-step agent reasoning — not a single prompt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6911828" y="9532620"/>
            <a:ext cx="822960" cy="480060"/>
            <a:chOff x="0" y="0"/>
            <a:chExt cx="1097280" cy="64008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754380" y="9532620"/>
            <a:ext cx="5486400" cy="480060"/>
            <a:chOff x="0" y="0"/>
            <a:chExt cx="7315200" cy="64008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BDB6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VYAPAR SARTHI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80" y="61722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UNIQUE SELLING PROPOSITION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380" y="1097280"/>
            <a:ext cx="15910560" cy="1577340"/>
            <a:chOff x="0" y="0"/>
            <a:chExt cx="21214080" cy="2103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4080" cy="2103120"/>
            </a:xfrm>
            <a:custGeom>
              <a:avLst/>
              <a:gdLst/>
              <a:ahLst/>
              <a:cxnLst/>
              <a:rect l="l" t="t" r="r" b="b"/>
              <a:pathLst>
                <a:path w="21214080" h="2103120">
                  <a:moveTo>
                    <a:pt x="0" y="0"/>
                  </a:moveTo>
                  <a:lnTo>
                    <a:pt x="21214080" y="0"/>
                  </a:lnTo>
                  <a:lnTo>
                    <a:pt x="212140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544" b="-14654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214080" cy="2122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957"/>
                </a:lnSpc>
              </a:pPr>
              <a:r>
                <a:rPr lang="en-US" sz="40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Every other agent responds.</a:t>
              </a:r>
            </a:p>
            <a:p>
              <a:pPr algn="l">
                <a:lnSpc>
                  <a:spcPts val="4957"/>
                </a:lnSpc>
              </a:pPr>
              <a:r>
                <a:rPr lang="en-US" sz="40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Vyapar Sarthi remembers.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380" y="2948940"/>
            <a:ext cx="16774668" cy="576072"/>
            <a:chOff x="0" y="0"/>
            <a:chExt cx="22366224" cy="7680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366224" cy="768096"/>
            </a:xfrm>
            <a:custGeom>
              <a:avLst/>
              <a:gdLst/>
              <a:ahLst/>
              <a:cxnLst/>
              <a:rect l="l" t="t" r="r" b="b"/>
              <a:pathLst>
                <a:path w="22366224" h="768096">
                  <a:moveTo>
                    <a:pt x="0" y="0"/>
                  </a:moveTo>
                  <a:lnTo>
                    <a:pt x="22366224" y="0"/>
                  </a:lnTo>
                  <a:lnTo>
                    <a:pt x="22366224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60120" y="2948940"/>
            <a:ext cx="7338060" cy="576072"/>
            <a:chOff x="0" y="0"/>
            <a:chExt cx="9784080" cy="7680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84080" cy="768096"/>
            </a:xfrm>
            <a:custGeom>
              <a:avLst/>
              <a:gdLst/>
              <a:ahLst/>
              <a:cxnLst/>
              <a:rect l="l" t="t" r="r" b="b"/>
              <a:pathLst>
                <a:path w="9784080" h="768096">
                  <a:moveTo>
                    <a:pt x="0" y="0"/>
                  </a:moveTo>
                  <a:lnTo>
                    <a:pt x="9784080" y="0"/>
                  </a:lnTo>
                  <a:lnTo>
                    <a:pt x="9784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202" b="-19820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784080" cy="806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C7CB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641080" y="2948940"/>
            <a:ext cx="3977640" cy="576072"/>
            <a:chOff x="0" y="0"/>
            <a:chExt cx="5303520" cy="7680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03520" cy="768096"/>
            </a:xfrm>
            <a:custGeom>
              <a:avLst/>
              <a:gdLst/>
              <a:ahLst/>
              <a:cxnLst/>
              <a:rect l="l" t="t" r="r" b="b"/>
              <a:pathLst>
                <a:path w="5303520" h="768096">
                  <a:moveTo>
                    <a:pt x="0" y="0"/>
                  </a:moveTo>
                  <a:lnTo>
                    <a:pt x="5303520" y="0"/>
                  </a:lnTo>
                  <a:lnTo>
                    <a:pt x="5303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39" b="-8453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303520" cy="806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C7CB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GENERIC MERCHANT AI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61620" y="2948940"/>
            <a:ext cx="4251960" cy="576072"/>
            <a:chOff x="0" y="0"/>
            <a:chExt cx="5669280" cy="7680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69280" cy="768096"/>
            </a:xfrm>
            <a:custGeom>
              <a:avLst/>
              <a:gdLst/>
              <a:ahLst/>
              <a:cxnLst/>
              <a:rect l="l" t="t" r="r" b="b"/>
              <a:pathLst>
                <a:path w="5669280" h="768096">
                  <a:moveTo>
                    <a:pt x="0" y="0"/>
                  </a:moveTo>
                  <a:lnTo>
                    <a:pt x="5669280" y="0"/>
                  </a:lnTo>
                  <a:lnTo>
                    <a:pt x="5669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818" b="-9381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669280" cy="806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VYAPAR SARTHI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9618" y="3520250"/>
            <a:ext cx="16784193" cy="667893"/>
            <a:chOff x="0" y="0"/>
            <a:chExt cx="22378924" cy="89052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378924" cy="890524"/>
            </a:xfrm>
            <a:custGeom>
              <a:avLst/>
              <a:gdLst/>
              <a:ahLst/>
              <a:cxnLst/>
              <a:rect l="l" t="t" r="r" b="b"/>
              <a:pathLst>
                <a:path w="22378924" h="890524">
                  <a:moveTo>
                    <a:pt x="0" y="0"/>
                  </a:moveTo>
                  <a:lnTo>
                    <a:pt x="22378924" y="0"/>
                  </a:lnTo>
                  <a:lnTo>
                    <a:pt x="22378924" y="890524"/>
                  </a:lnTo>
                  <a:lnTo>
                    <a:pt x="0" y="89052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60120" y="3525012"/>
            <a:ext cx="7338060" cy="658368"/>
            <a:chOff x="0" y="0"/>
            <a:chExt cx="9784080" cy="8778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84080" cy="877824"/>
            </a:xfrm>
            <a:custGeom>
              <a:avLst/>
              <a:gdLst/>
              <a:ahLst/>
              <a:cxnLst/>
              <a:rect l="l" t="t" r="r" b="b"/>
              <a:pathLst>
                <a:path w="9784080" h="877824">
                  <a:moveTo>
                    <a:pt x="0" y="0"/>
                  </a:moveTo>
                  <a:lnTo>
                    <a:pt x="9784080" y="0"/>
                  </a:lnTo>
                  <a:lnTo>
                    <a:pt x="978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176" b="-16717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978408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of past decisions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35340" y="3525012"/>
            <a:ext cx="4320540" cy="658368"/>
            <a:chOff x="0" y="0"/>
            <a:chExt cx="5760720" cy="8778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760720" cy="877824"/>
            </a:xfrm>
            <a:custGeom>
              <a:avLst/>
              <a:gdLst/>
              <a:ahLst/>
              <a:cxnLst/>
              <a:rect l="l" t="t" r="r" b="b"/>
              <a:pathLst>
                <a:path w="5760720" h="877824">
                  <a:moveTo>
                    <a:pt x="0" y="0"/>
                  </a:moveTo>
                  <a:lnTo>
                    <a:pt x="5760720" y="0"/>
                  </a:lnTo>
                  <a:lnTo>
                    <a:pt x="5760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870" b="-7787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576072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55880" y="3525012"/>
            <a:ext cx="4594860" cy="658368"/>
            <a:chOff x="0" y="0"/>
            <a:chExt cx="6126480" cy="87782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126480" cy="877824"/>
            </a:xfrm>
            <a:custGeom>
              <a:avLst/>
              <a:gdLst/>
              <a:ahLst/>
              <a:cxnLst/>
              <a:rect l="l" t="t" r="r" b="b"/>
              <a:pathLst>
                <a:path w="6126480" h="877824">
                  <a:moveTo>
                    <a:pt x="0" y="0"/>
                  </a:moveTo>
                  <a:lnTo>
                    <a:pt x="6126480" y="0"/>
                  </a:lnTo>
                  <a:lnTo>
                    <a:pt x="612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989" b="-8598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6126480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BAE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Cognee causal graph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49618" y="4178617"/>
            <a:ext cx="16784193" cy="667893"/>
            <a:chOff x="0" y="0"/>
            <a:chExt cx="22378924" cy="89052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378924" cy="890524"/>
            </a:xfrm>
            <a:custGeom>
              <a:avLst/>
              <a:gdLst/>
              <a:ahLst/>
              <a:cxnLst/>
              <a:rect l="l" t="t" r="r" b="b"/>
              <a:pathLst>
                <a:path w="22378924" h="890524">
                  <a:moveTo>
                    <a:pt x="0" y="0"/>
                  </a:moveTo>
                  <a:lnTo>
                    <a:pt x="22378924" y="0"/>
                  </a:lnTo>
                  <a:lnTo>
                    <a:pt x="22378924" y="890524"/>
                  </a:lnTo>
                  <a:lnTo>
                    <a:pt x="0" y="890524"/>
                  </a:lnTo>
                  <a:close/>
                </a:path>
              </a:pathLst>
            </a:custGeom>
            <a:solidFill>
              <a:srgbClr val="F3EEE3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960120" y="4183380"/>
            <a:ext cx="7338060" cy="658368"/>
            <a:chOff x="0" y="0"/>
            <a:chExt cx="9784080" cy="87782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784080" cy="877824"/>
            </a:xfrm>
            <a:custGeom>
              <a:avLst/>
              <a:gdLst/>
              <a:ahLst/>
              <a:cxnLst/>
              <a:rect l="l" t="t" r="r" b="b"/>
              <a:pathLst>
                <a:path w="9784080" h="877824">
                  <a:moveTo>
                    <a:pt x="0" y="0"/>
                  </a:moveTo>
                  <a:lnTo>
                    <a:pt x="9784080" y="0"/>
                  </a:lnTo>
                  <a:lnTo>
                    <a:pt x="978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176" b="-16717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978408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Learns from merchant's failures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435340" y="4183380"/>
            <a:ext cx="4320540" cy="658368"/>
            <a:chOff x="0" y="0"/>
            <a:chExt cx="5760720" cy="87782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760720" cy="877824"/>
            </a:xfrm>
            <a:custGeom>
              <a:avLst/>
              <a:gdLst/>
              <a:ahLst/>
              <a:cxnLst/>
              <a:rect l="l" t="t" r="r" b="b"/>
              <a:pathLst>
                <a:path w="5760720" h="877824">
                  <a:moveTo>
                    <a:pt x="0" y="0"/>
                  </a:moveTo>
                  <a:lnTo>
                    <a:pt x="5760720" y="0"/>
                  </a:lnTo>
                  <a:lnTo>
                    <a:pt x="5760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870" b="-7787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576072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755880" y="4183380"/>
            <a:ext cx="4594860" cy="658368"/>
            <a:chOff x="0" y="0"/>
            <a:chExt cx="6126480" cy="87782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126480" cy="877824"/>
            </a:xfrm>
            <a:custGeom>
              <a:avLst/>
              <a:gdLst/>
              <a:ahLst/>
              <a:cxnLst/>
              <a:rect l="l" t="t" r="r" b="b"/>
              <a:pathLst>
                <a:path w="6126480" h="877824">
                  <a:moveTo>
                    <a:pt x="0" y="0"/>
                  </a:moveTo>
                  <a:lnTo>
                    <a:pt x="6126480" y="0"/>
                  </a:lnTo>
                  <a:lnTo>
                    <a:pt x="612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989" b="-8598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126480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BAE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Failure Guard node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9618" y="4836986"/>
            <a:ext cx="16784193" cy="667893"/>
            <a:chOff x="0" y="0"/>
            <a:chExt cx="22378924" cy="89052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2378924" cy="890524"/>
            </a:xfrm>
            <a:custGeom>
              <a:avLst/>
              <a:gdLst/>
              <a:ahLst/>
              <a:cxnLst/>
              <a:rect l="l" t="t" r="r" b="b"/>
              <a:pathLst>
                <a:path w="22378924" h="890524">
                  <a:moveTo>
                    <a:pt x="0" y="0"/>
                  </a:moveTo>
                  <a:lnTo>
                    <a:pt x="22378924" y="0"/>
                  </a:lnTo>
                  <a:lnTo>
                    <a:pt x="22378924" y="890524"/>
                  </a:lnTo>
                  <a:lnTo>
                    <a:pt x="0" y="89052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960120" y="4841748"/>
            <a:ext cx="7338060" cy="658368"/>
            <a:chOff x="0" y="0"/>
            <a:chExt cx="9784080" cy="87782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784080" cy="877824"/>
            </a:xfrm>
            <a:custGeom>
              <a:avLst/>
              <a:gdLst/>
              <a:ahLst/>
              <a:cxnLst/>
              <a:rect l="l" t="t" r="r" b="b"/>
              <a:pathLst>
                <a:path w="9784080" h="877824">
                  <a:moveTo>
                    <a:pt x="0" y="0"/>
                  </a:moveTo>
                  <a:lnTo>
                    <a:pt x="9784080" y="0"/>
                  </a:lnTo>
                  <a:lnTo>
                    <a:pt x="978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176" b="-16717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978408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Proactive — no prompt needed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435340" y="4841748"/>
            <a:ext cx="4320540" cy="658368"/>
            <a:chOff x="0" y="0"/>
            <a:chExt cx="5760720" cy="87782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760720" cy="877824"/>
            </a:xfrm>
            <a:custGeom>
              <a:avLst/>
              <a:gdLst/>
              <a:ahLst/>
              <a:cxnLst/>
              <a:rect l="l" t="t" r="r" b="b"/>
              <a:pathLst>
                <a:path w="5760720" h="877824">
                  <a:moveTo>
                    <a:pt x="0" y="0"/>
                  </a:moveTo>
                  <a:lnTo>
                    <a:pt x="5760720" y="0"/>
                  </a:lnTo>
                  <a:lnTo>
                    <a:pt x="5760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870" b="-7787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576072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755880" y="4841748"/>
            <a:ext cx="4594860" cy="658368"/>
            <a:chOff x="0" y="0"/>
            <a:chExt cx="6126480" cy="87782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126480" cy="877824"/>
            </a:xfrm>
            <a:custGeom>
              <a:avLst/>
              <a:gdLst/>
              <a:ahLst/>
              <a:cxnLst/>
              <a:rect l="l" t="t" r="r" b="b"/>
              <a:pathLst>
                <a:path w="6126480" h="877824">
                  <a:moveTo>
                    <a:pt x="0" y="0"/>
                  </a:moveTo>
                  <a:lnTo>
                    <a:pt x="6126480" y="0"/>
                  </a:lnTo>
                  <a:lnTo>
                    <a:pt x="612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989" b="-85989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126480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BAE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n8n weekly trigger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9618" y="5495354"/>
            <a:ext cx="16784193" cy="667893"/>
            <a:chOff x="0" y="0"/>
            <a:chExt cx="22378924" cy="8905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378924" cy="890524"/>
            </a:xfrm>
            <a:custGeom>
              <a:avLst/>
              <a:gdLst/>
              <a:ahLst/>
              <a:cxnLst/>
              <a:rect l="l" t="t" r="r" b="b"/>
              <a:pathLst>
                <a:path w="22378924" h="890524">
                  <a:moveTo>
                    <a:pt x="0" y="0"/>
                  </a:moveTo>
                  <a:lnTo>
                    <a:pt x="22378924" y="0"/>
                  </a:lnTo>
                  <a:lnTo>
                    <a:pt x="22378924" y="890524"/>
                  </a:lnTo>
                  <a:lnTo>
                    <a:pt x="0" y="890524"/>
                  </a:lnTo>
                  <a:close/>
                </a:path>
              </a:pathLst>
            </a:custGeom>
            <a:solidFill>
              <a:srgbClr val="F3EEE3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960120" y="5500116"/>
            <a:ext cx="7338060" cy="658368"/>
            <a:chOff x="0" y="0"/>
            <a:chExt cx="9784080" cy="87782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784080" cy="877824"/>
            </a:xfrm>
            <a:custGeom>
              <a:avLst/>
              <a:gdLst/>
              <a:ahLst/>
              <a:cxnLst/>
              <a:rect l="l" t="t" r="r" b="b"/>
              <a:pathLst>
                <a:path w="9784080" h="877824">
                  <a:moveTo>
                    <a:pt x="0" y="0"/>
                  </a:moveTo>
                  <a:lnTo>
                    <a:pt x="9784080" y="0"/>
                  </a:lnTo>
                  <a:lnTo>
                    <a:pt x="978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176" b="-16717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978408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Personalised to this merchant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435340" y="5500116"/>
            <a:ext cx="4320540" cy="658368"/>
            <a:chOff x="0" y="0"/>
            <a:chExt cx="5760720" cy="87782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760720" cy="877824"/>
            </a:xfrm>
            <a:custGeom>
              <a:avLst/>
              <a:gdLst/>
              <a:ahLst/>
              <a:cxnLst/>
              <a:rect l="l" t="t" r="r" b="b"/>
              <a:pathLst>
                <a:path w="5760720" h="877824">
                  <a:moveTo>
                    <a:pt x="0" y="0"/>
                  </a:moveTo>
                  <a:lnTo>
                    <a:pt x="5760720" y="0"/>
                  </a:lnTo>
                  <a:lnTo>
                    <a:pt x="5760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870" b="-77870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576072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755880" y="5500116"/>
            <a:ext cx="4594860" cy="658368"/>
            <a:chOff x="0" y="0"/>
            <a:chExt cx="6126480" cy="87782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126480" cy="877824"/>
            </a:xfrm>
            <a:custGeom>
              <a:avLst/>
              <a:gdLst/>
              <a:ahLst/>
              <a:cxnLst/>
              <a:rect l="l" t="t" r="r" b="b"/>
              <a:pathLst>
                <a:path w="6126480" h="877824">
                  <a:moveTo>
                    <a:pt x="0" y="0"/>
                  </a:moveTo>
                  <a:lnTo>
                    <a:pt x="6126480" y="0"/>
                  </a:lnTo>
                  <a:lnTo>
                    <a:pt x="612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989" b="-85989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6126480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BAE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Per-merchant memory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49618" y="6153721"/>
            <a:ext cx="16784193" cy="667893"/>
            <a:chOff x="0" y="0"/>
            <a:chExt cx="22378924" cy="89052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2378924" cy="890524"/>
            </a:xfrm>
            <a:custGeom>
              <a:avLst/>
              <a:gdLst/>
              <a:ahLst/>
              <a:cxnLst/>
              <a:rect l="l" t="t" r="r" b="b"/>
              <a:pathLst>
                <a:path w="22378924" h="890524">
                  <a:moveTo>
                    <a:pt x="0" y="0"/>
                  </a:moveTo>
                  <a:lnTo>
                    <a:pt x="22378924" y="0"/>
                  </a:lnTo>
                  <a:lnTo>
                    <a:pt x="22378924" y="890524"/>
                  </a:lnTo>
                  <a:lnTo>
                    <a:pt x="0" y="89052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960120" y="6158484"/>
            <a:ext cx="7338060" cy="658368"/>
            <a:chOff x="0" y="0"/>
            <a:chExt cx="9784080" cy="87782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784080" cy="877824"/>
            </a:xfrm>
            <a:custGeom>
              <a:avLst/>
              <a:gdLst/>
              <a:ahLst/>
              <a:cxnLst/>
              <a:rect l="l" t="t" r="r" b="b"/>
              <a:pathLst>
                <a:path w="9784080" h="877824">
                  <a:moveTo>
                    <a:pt x="0" y="0"/>
                  </a:moveTo>
                  <a:lnTo>
                    <a:pt x="9784080" y="0"/>
                  </a:lnTo>
                  <a:lnTo>
                    <a:pt x="978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176" b="-16717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978408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Indian language voice delivery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435340" y="6158484"/>
            <a:ext cx="4320540" cy="658368"/>
            <a:chOff x="0" y="0"/>
            <a:chExt cx="5760720" cy="87782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760720" cy="877824"/>
            </a:xfrm>
            <a:custGeom>
              <a:avLst/>
              <a:gdLst/>
              <a:ahLst/>
              <a:cxnLst/>
              <a:rect l="l" t="t" r="r" b="b"/>
              <a:pathLst>
                <a:path w="5760720" h="877824">
                  <a:moveTo>
                    <a:pt x="0" y="0"/>
                  </a:moveTo>
                  <a:lnTo>
                    <a:pt x="5760720" y="0"/>
                  </a:lnTo>
                  <a:lnTo>
                    <a:pt x="5760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870" b="-7787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576072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755880" y="6158484"/>
            <a:ext cx="4594860" cy="658368"/>
            <a:chOff x="0" y="0"/>
            <a:chExt cx="6126480" cy="87782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126480" cy="877824"/>
            </a:xfrm>
            <a:custGeom>
              <a:avLst/>
              <a:gdLst/>
              <a:ahLst/>
              <a:cxnLst/>
              <a:rect l="l" t="t" r="r" b="b"/>
              <a:pathLst>
                <a:path w="6126480" h="877824">
                  <a:moveTo>
                    <a:pt x="0" y="0"/>
                  </a:moveTo>
                  <a:lnTo>
                    <a:pt x="6126480" y="0"/>
                  </a:lnTo>
                  <a:lnTo>
                    <a:pt x="612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989" b="-8598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6126480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BAE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Sarvam, 11 languages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49618" y="6812090"/>
            <a:ext cx="16784193" cy="667893"/>
            <a:chOff x="0" y="0"/>
            <a:chExt cx="22378924" cy="89052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378924" cy="890524"/>
            </a:xfrm>
            <a:custGeom>
              <a:avLst/>
              <a:gdLst/>
              <a:ahLst/>
              <a:cxnLst/>
              <a:rect l="l" t="t" r="r" b="b"/>
              <a:pathLst>
                <a:path w="22378924" h="890524">
                  <a:moveTo>
                    <a:pt x="0" y="0"/>
                  </a:moveTo>
                  <a:lnTo>
                    <a:pt x="22378924" y="0"/>
                  </a:lnTo>
                  <a:lnTo>
                    <a:pt x="22378924" y="890524"/>
                  </a:lnTo>
                  <a:lnTo>
                    <a:pt x="0" y="890524"/>
                  </a:lnTo>
                  <a:close/>
                </a:path>
              </a:pathLst>
            </a:custGeom>
            <a:solidFill>
              <a:srgbClr val="F3EEE3"/>
            </a:solidFill>
            <a:ln w="9525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960120" y="6816852"/>
            <a:ext cx="7338060" cy="658368"/>
            <a:chOff x="0" y="0"/>
            <a:chExt cx="9784080" cy="87782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784080" cy="877824"/>
            </a:xfrm>
            <a:custGeom>
              <a:avLst/>
              <a:gdLst/>
              <a:ahLst/>
              <a:cxnLst/>
              <a:rect l="l" t="t" r="r" b="b"/>
              <a:pathLst>
                <a:path w="9784080" h="877824">
                  <a:moveTo>
                    <a:pt x="0" y="0"/>
                  </a:moveTo>
                  <a:lnTo>
                    <a:pt x="9784080" y="0"/>
                  </a:lnTo>
                  <a:lnTo>
                    <a:pt x="9784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176" b="-167176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28575"/>
              <a:ext cx="9784080" cy="9063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B1F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intelligence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435340" y="6816852"/>
            <a:ext cx="4320540" cy="658368"/>
            <a:chOff x="0" y="0"/>
            <a:chExt cx="5760720" cy="87782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760720" cy="877824"/>
            </a:xfrm>
            <a:custGeom>
              <a:avLst/>
              <a:gdLst/>
              <a:ahLst/>
              <a:cxnLst/>
              <a:rect l="l" t="t" r="r" b="b"/>
              <a:pathLst>
                <a:path w="5760720" h="877824">
                  <a:moveTo>
                    <a:pt x="0" y="0"/>
                  </a:moveTo>
                  <a:lnTo>
                    <a:pt x="5760720" y="0"/>
                  </a:lnTo>
                  <a:lnTo>
                    <a:pt x="5760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870" b="-77870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5760720" cy="925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755880" y="6816852"/>
            <a:ext cx="4594860" cy="658368"/>
            <a:chOff x="0" y="0"/>
            <a:chExt cx="6126480" cy="87782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126480" cy="877824"/>
            </a:xfrm>
            <a:custGeom>
              <a:avLst/>
              <a:gdLst/>
              <a:ahLst/>
              <a:cxnLst/>
              <a:rect l="l" t="t" r="r" b="b"/>
              <a:pathLst>
                <a:path w="6126480" h="877824">
                  <a:moveTo>
                    <a:pt x="0" y="0"/>
                  </a:moveTo>
                  <a:lnTo>
                    <a:pt x="6126480" y="0"/>
                  </a:lnTo>
                  <a:lnTo>
                    <a:pt x="612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989" b="-85989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6126480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BAE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Similar merchant patterns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54380" y="7776972"/>
            <a:ext cx="16774668" cy="1303020"/>
            <a:chOff x="0" y="0"/>
            <a:chExt cx="22366224" cy="173736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2366224" cy="1737360"/>
            </a:xfrm>
            <a:custGeom>
              <a:avLst/>
              <a:gdLst/>
              <a:ahLst/>
              <a:cxnLst/>
              <a:rect l="l" t="t" r="r" b="b"/>
              <a:pathLst>
                <a:path w="22366224" h="1737360">
                  <a:moveTo>
                    <a:pt x="0" y="0"/>
                  </a:moveTo>
                  <a:lnTo>
                    <a:pt x="22366224" y="0"/>
                  </a:lnTo>
                  <a:lnTo>
                    <a:pt x="223662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165860" y="7776972"/>
            <a:ext cx="15951708" cy="1303020"/>
            <a:chOff x="0" y="0"/>
            <a:chExt cx="21268944" cy="173736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1268944" cy="1737360"/>
            </a:xfrm>
            <a:custGeom>
              <a:avLst/>
              <a:gdLst/>
              <a:ahLst/>
              <a:cxnLst/>
              <a:rect l="l" t="t" r="r" b="b"/>
              <a:pathLst>
                <a:path w="21268944" h="1737360">
                  <a:moveTo>
                    <a:pt x="0" y="0"/>
                  </a:moveTo>
                  <a:lnTo>
                    <a:pt x="21268944" y="0"/>
                  </a:lnTo>
                  <a:lnTo>
                    <a:pt x="2126894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537" b="-188537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57150"/>
              <a:ext cx="21268944" cy="1794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950" b="1" i="1">
                  <a:solidFill>
                    <a:srgbClr val="F2A93B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The compounding moat:  </a:t>
              </a:r>
              <a:r>
                <a:rPr lang="en-US" sz="1950" i="1">
                  <a:solidFill>
                    <a:srgbClr val="E7E5F5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The longer a merchant uses Vyapar Sarthi, the smarter it gets about them specifically. It doesn't stay a product — it becomes a business partner.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6911828" y="9532620"/>
            <a:ext cx="822960" cy="480060"/>
            <a:chOff x="0" y="0"/>
            <a:chExt cx="1097280" cy="64008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54380" y="9532620"/>
            <a:ext cx="5486400" cy="480060"/>
            <a:chOff x="0" y="0"/>
            <a:chExt cx="7315200" cy="64008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BDB6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VYAPAR SARTHI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80" y="61722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&amp; BENEFITS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380" y="1097280"/>
            <a:ext cx="15910560" cy="1577340"/>
            <a:chOff x="0" y="0"/>
            <a:chExt cx="21214080" cy="2103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4080" cy="2103120"/>
            </a:xfrm>
            <a:custGeom>
              <a:avLst/>
              <a:gdLst/>
              <a:ahLst/>
              <a:cxnLst/>
              <a:rect l="l" t="t" r="r" b="b"/>
              <a:pathLst>
                <a:path w="21214080" h="2103120">
                  <a:moveTo>
                    <a:pt x="0" y="0"/>
                  </a:moveTo>
                  <a:lnTo>
                    <a:pt x="21214080" y="0"/>
                  </a:lnTo>
                  <a:lnTo>
                    <a:pt x="212140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544" b="-14654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214080" cy="2112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73"/>
                </a:lnSpc>
              </a:pPr>
              <a:r>
                <a:rPr lang="en-US" sz="390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13 million merchants.</a:t>
              </a:r>
            </a:p>
            <a:p>
              <a:pPr algn="l">
                <a:lnSpc>
                  <a:spcPts val="4773"/>
                </a:lnSpc>
              </a:pPr>
              <a:r>
                <a:rPr lang="en-US" sz="390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Zero business advisors. Until now.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380" y="2811780"/>
            <a:ext cx="6858000" cy="411480"/>
            <a:chOff x="0" y="0"/>
            <a:chExt cx="91440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548640"/>
            </a:xfrm>
            <a:custGeom>
              <a:avLst/>
              <a:gdLst/>
              <a:ahLst/>
              <a:cxnLst/>
              <a:rect l="l" t="t" r="r" b="b"/>
              <a:pathLst>
                <a:path w="9144000" h="54864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91440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4">
                  <a:solidFill>
                    <a:srgbClr val="C979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MERCHANT IMPACT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3291840"/>
            <a:ext cx="795528" cy="795528"/>
            <a:chOff x="0" y="0"/>
            <a:chExt cx="1060704" cy="10607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D9534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54380" y="3264408"/>
            <a:ext cx="795528" cy="795528"/>
            <a:chOff x="0" y="0"/>
            <a:chExt cx="1060704" cy="10607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60704" cy="10988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24228" y="3209544"/>
            <a:ext cx="7680960" cy="438912"/>
            <a:chOff x="0" y="0"/>
            <a:chExt cx="10241280" cy="5852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41280" cy="585216"/>
            </a:xfrm>
            <a:custGeom>
              <a:avLst/>
              <a:gdLst/>
              <a:ahLst/>
              <a:cxnLst/>
              <a:rect l="l" t="t" r="r" b="b"/>
              <a:pathLst>
                <a:path w="10241280" h="585216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988" b="-29098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024128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Break the failure loop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24228" y="3662172"/>
            <a:ext cx="7680960" cy="754380"/>
            <a:chOff x="0" y="0"/>
            <a:chExt cx="1024128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024128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6"/>
                </a:lnSpc>
              </a:pPr>
              <a:r>
                <a:rPr lang="en-US" sz="165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merchant repeats a failed strategy 2.3x. Failure Guard breaks this after the first time.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4380" y="4910328"/>
            <a:ext cx="795528" cy="795528"/>
            <a:chOff x="0" y="0"/>
            <a:chExt cx="1060704" cy="10607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3E8ED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54380" y="4882896"/>
            <a:ext cx="795528" cy="795528"/>
            <a:chOff x="0" y="0"/>
            <a:chExt cx="1060704" cy="10607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60704" cy="10988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🗣️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24228" y="4828032"/>
            <a:ext cx="7680960" cy="438912"/>
            <a:chOff x="0" y="0"/>
            <a:chExt cx="10241280" cy="5852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41280" cy="585216"/>
            </a:xfrm>
            <a:custGeom>
              <a:avLst/>
              <a:gdLst/>
              <a:ahLst/>
              <a:cxnLst/>
              <a:rect l="l" t="t" r="r" b="b"/>
              <a:pathLst>
                <a:path w="10241280" h="585216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988" b="-29098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024128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Zero literacy barrier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824228" y="5280660"/>
            <a:ext cx="7680960" cy="754380"/>
            <a:chOff x="0" y="0"/>
            <a:chExt cx="10241280" cy="10058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1024128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6"/>
                </a:lnSpc>
              </a:pPr>
              <a:r>
                <a:rPr lang="en-US" sz="165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reading, no dashboard, no English — a voice note in their language.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4380" y="6528816"/>
            <a:ext cx="795528" cy="795528"/>
            <a:chOff x="0" y="0"/>
            <a:chExt cx="1060704" cy="106070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2BAE66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754380" y="6501384"/>
            <a:ext cx="795528" cy="795528"/>
            <a:chOff x="0" y="0"/>
            <a:chExt cx="1060704" cy="106070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60704" cy="10988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📈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824228" y="6446520"/>
            <a:ext cx="7680960" cy="438912"/>
            <a:chOff x="0" y="0"/>
            <a:chExt cx="10241280" cy="5852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0" cy="585216"/>
            </a:xfrm>
            <a:custGeom>
              <a:avLst/>
              <a:gdLst/>
              <a:ahLst/>
              <a:cxnLst/>
              <a:rect l="l" t="t" r="r" b="b"/>
              <a:pathLst>
                <a:path w="10241280" h="585216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988" b="-29098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1024128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Compounding personalisation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824228" y="6899148"/>
            <a:ext cx="7680960" cy="754380"/>
            <a:chOff x="0" y="0"/>
            <a:chExt cx="10241280" cy="10058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393" b="-14839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1024128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6"/>
                </a:lnSpc>
              </a:pPr>
              <a:r>
                <a:rPr lang="en-US" sz="165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decision logged. Month 3 advice is smarter than Month 1.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54380" y="8174736"/>
            <a:ext cx="8641080" cy="1303020"/>
            <a:chOff x="0" y="0"/>
            <a:chExt cx="11521440" cy="1737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521440" cy="1737360"/>
            </a:xfrm>
            <a:custGeom>
              <a:avLst/>
              <a:gdLst/>
              <a:ahLst/>
              <a:cxnLst/>
              <a:rect l="l" t="t" r="r" b="b"/>
              <a:pathLst>
                <a:path w="11521440" h="1737360">
                  <a:moveTo>
                    <a:pt x="0" y="0"/>
                  </a:moveTo>
                  <a:lnTo>
                    <a:pt x="11521440" y="0"/>
                  </a:lnTo>
                  <a:lnTo>
                    <a:pt x="1152144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165860" y="8174736"/>
            <a:ext cx="2331720" cy="1303020"/>
            <a:chOff x="0" y="0"/>
            <a:chExt cx="3108960" cy="17373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08960" cy="1737360"/>
            </a:xfrm>
            <a:custGeom>
              <a:avLst/>
              <a:gdLst/>
              <a:ahLst/>
              <a:cxnLst/>
              <a:rect l="l" t="t" r="r" b="b"/>
              <a:pathLst>
                <a:path w="3108960" h="1737360">
                  <a:moveTo>
                    <a:pt x="0" y="0"/>
                  </a:moveTo>
                  <a:lnTo>
                    <a:pt x="3108960" y="0"/>
                  </a:lnTo>
                  <a:lnTo>
                    <a:pt x="31089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99" r="-21699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31089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2A9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2.3x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634740" y="8174736"/>
            <a:ext cx="5486400" cy="1303020"/>
            <a:chOff x="0" y="0"/>
            <a:chExt cx="7315200" cy="173736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315200" cy="1737360"/>
            </a:xfrm>
            <a:custGeom>
              <a:avLst/>
              <a:gdLst/>
              <a:ahLst/>
              <a:cxnLst/>
              <a:rect l="l" t="t" r="r" b="b"/>
              <a:pathLst>
                <a:path w="7315200" h="1737360">
                  <a:moveTo>
                    <a:pt x="0" y="0"/>
                  </a:moveTo>
                  <a:lnTo>
                    <a:pt x="7315200" y="0"/>
                  </a:lnTo>
                  <a:lnTo>
                    <a:pt x="7315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42" b="-32042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7315200" cy="1794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C7CB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 how many times the average small merchant repeats a failed strategy before stopping on their own — Failure Guard cuts that to one.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806940" y="2811780"/>
            <a:ext cx="7722108" cy="6515100"/>
            <a:chOff x="0" y="0"/>
            <a:chExt cx="10296144" cy="8686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296144" cy="8686800"/>
            </a:xfrm>
            <a:custGeom>
              <a:avLst/>
              <a:gdLst/>
              <a:ahLst/>
              <a:cxnLst/>
              <a:rect l="l" t="t" r="r" b="b"/>
              <a:pathLst>
                <a:path w="10296144" h="8686800">
                  <a:moveTo>
                    <a:pt x="0" y="0"/>
                  </a:moveTo>
                  <a:lnTo>
                    <a:pt x="10296144" y="0"/>
                  </a:lnTo>
                  <a:lnTo>
                    <a:pt x="10296144" y="8686800"/>
                  </a:lnTo>
                  <a:lnTo>
                    <a:pt x="0" y="8686800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0218420" y="3113532"/>
            <a:ext cx="6899148" cy="411480"/>
            <a:chOff x="0" y="0"/>
            <a:chExt cx="9198864" cy="5486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198864" cy="548640"/>
            </a:xfrm>
            <a:custGeom>
              <a:avLst/>
              <a:gdLst/>
              <a:ahLst/>
              <a:cxnLst/>
              <a:rect l="l" t="t" r="r" b="b"/>
              <a:pathLst>
                <a:path w="9198864" h="548640">
                  <a:moveTo>
                    <a:pt x="0" y="0"/>
                  </a:moveTo>
                  <a:lnTo>
                    <a:pt x="9198864" y="0"/>
                  </a:lnTo>
                  <a:lnTo>
                    <a:pt x="91988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99" b="-276699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9198864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4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PAYTM PLATFORM IMPACT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218420" y="3840480"/>
            <a:ext cx="713232" cy="713232"/>
            <a:chOff x="0" y="0"/>
            <a:chExt cx="950976" cy="95097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0218420" y="3813048"/>
            <a:ext cx="713232" cy="713232"/>
            <a:chOff x="0" y="0"/>
            <a:chExt cx="950976" cy="95097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950976" cy="9890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178540" y="3799332"/>
            <a:ext cx="5939028" cy="411480"/>
            <a:chOff x="0" y="0"/>
            <a:chExt cx="7918704" cy="5486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918704" cy="548640"/>
            </a:xfrm>
            <a:custGeom>
              <a:avLst/>
              <a:gdLst/>
              <a:ahLst/>
              <a:cxnLst/>
              <a:rect l="l" t="t" r="r" b="b"/>
              <a:pathLst>
                <a:path w="7918704" h="548640">
                  <a:moveTo>
                    <a:pt x="0" y="0"/>
                  </a:moveTo>
                  <a:lnTo>
                    <a:pt x="7918704" y="0"/>
                  </a:lnTo>
                  <a:lnTo>
                    <a:pt x="79187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234" b="-231234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791870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Merchant retention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178540" y="4210812"/>
            <a:ext cx="5939028" cy="1028700"/>
            <a:chOff x="0" y="0"/>
            <a:chExt cx="7918704" cy="13716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918704" cy="1371600"/>
            </a:xfrm>
            <a:custGeom>
              <a:avLst/>
              <a:gdLst/>
              <a:ahLst/>
              <a:cxnLst/>
              <a:rect l="l" t="t" r="r" b="b"/>
              <a:pathLst>
                <a:path w="7918704" h="1371600">
                  <a:moveTo>
                    <a:pt x="0" y="0"/>
                  </a:moveTo>
                  <a:lnTo>
                    <a:pt x="7918704" y="0"/>
                  </a:lnTo>
                  <a:lnTo>
                    <a:pt x="791870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493" b="-6249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7918704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AEB2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agent that gets smarter over time creates switching cost. Merchants stay on Paytm.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218420" y="5596128"/>
            <a:ext cx="713232" cy="713232"/>
            <a:chOff x="0" y="0"/>
            <a:chExt cx="950976" cy="95097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0218420" y="5568696"/>
            <a:ext cx="713232" cy="713232"/>
            <a:chOff x="0" y="0"/>
            <a:chExt cx="950976" cy="95097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950976" cy="9890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💳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178540" y="5554980"/>
            <a:ext cx="5939028" cy="411480"/>
            <a:chOff x="0" y="0"/>
            <a:chExt cx="7918704" cy="5486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918704" cy="548640"/>
            </a:xfrm>
            <a:custGeom>
              <a:avLst/>
              <a:gdLst/>
              <a:ahLst/>
              <a:cxnLst/>
              <a:rect l="l" t="t" r="r" b="b"/>
              <a:pathLst>
                <a:path w="7918704" h="548640">
                  <a:moveTo>
                    <a:pt x="0" y="0"/>
                  </a:moveTo>
                  <a:lnTo>
                    <a:pt x="7918704" y="0"/>
                  </a:lnTo>
                  <a:lnTo>
                    <a:pt x="79187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234" b="-231234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791870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Loan &amp; insurance upsell signal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178540" y="5966460"/>
            <a:ext cx="5939028" cy="1028700"/>
            <a:chOff x="0" y="0"/>
            <a:chExt cx="7918704" cy="13716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918704" cy="1371600"/>
            </a:xfrm>
            <a:custGeom>
              <a:avLst/>
              <a:gdLst/>
              <a:ahLst/>
              <a:cxnLst/>
              <a:rect l="l" t="t" r="r" b="b"/>
              <a:pathLst>
                <a:path w="7918704" h="1371600">
                  <a:moveTo>
                    <a:pt x="0" y="0"/>
                  </a:moveTo>
                  <a:lnTo>
                    <a:pt x="7918704" y="0"/>
                  </a:lnTo>
                  <a:lnTo>
                    <a:pt x="791870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493" b="-62493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66675"/>
              <a:ext cx="7918704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AEB2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Detects consistent positive patterns and surfaces the right Paytm financial product at the right moment — not cold.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18420" y="7351776"/>
            <a:ext cx="713232" cy="713232"/>
            <a:chOff x="0" y="0"/>
            <a:chExt cx="950976" cy="95097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0218420" y="7324344"/>
            <a:ext cx="713232" cy="713232"/>
            <a:chOff x="0" y="0"/>
            <a:chExt cx="950976" cy="95097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950976" cy="9890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1178540" y="7310628"/>
            <a:ext cx="5939028" cy="411480"/>
            <a:chOff x="0" y="0"/>
            <a:chExt cx="7918704" cy="54864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918704" cy="548640"/>
            </a:xfrm>
            <a:custGeom>
              <a:avLst/>
              <a:gdLst/>
              <a:ahLst/>
              <a:cxnLst/>
              <a:rect l="l" t="t" r="r" b="b"/>
              <a:pathLst>
                <a:path w="7918704" h="548640">
                  <a:moveTo>
                    <a:pt x="0" y="0"/>
                  </a:moveTo>
                  <a:lnTo>
                    <a:pt x="7918704" y="0"/>
                  </a:lnTo>
                  <a:lnTo>
                    <a:pt x="79187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234" b="-231234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7918704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Aggregate merchant intelligence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1178540" y="7722108"/>
            <a:ext cx="5939028" cy="1028700"/>
            <a:chOff x="0" y="0"/>
            <a:chExt cx="7918704" cy="13716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918704" cy="1371600"/>
            </a:xfrm>
            <a:custGeom>
              <a:avLst/>
              <a:gdLst/>
              <a:ahLst/>
              <a:cxnLst/>
              <a:rect l="l" t="t" r="r" b="b"/>
              <a:pathLst>
                <a:path w="7918704" h="1371600">
                  <a:moveTo>
                    <a:pt x="0" y="0"/>
                  </a:moveTo>
                  <a:lnTo>
                    <a:pt x="7918704" y="0"/>
                  </a:lnTo>
                  <a:lnTo>
                    <a:pt x="791870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493" b="-62493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66675"/>
              <a:ext cx="7918704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500">
                  <a:solidFill>
                    <a:srgbClr val="AEB2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Wisdom turns 13M merchants' data into a collective intelligence layer — a moat no competitor can replicate.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6911828" y="9532620"/>
            <a:ext cx="822960" cy="480060"/>
            <a:chOff x="0" y="0"/>
            <a:chExt cx="1097280" cy="64008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54380" y="9532620"/>
            <a:ext cx="5486400" cy="480060"/>
            <a:chOff x="0" y="0"/>
            <a:chExt cx="7315200" cy="64008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BDB6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VYAPAR SARTHI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80" y="61722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F2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MODEL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380" y="1097280"/>
            <a:ext cx="15910560" cy="1577340"/>
            <a:chOff x="0" y="0"/>
            <a:chExt cx="21214080" cy="2103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4080" cy="2103120"/>
            </a:xfrm>
            <a:custGeom>
              <a:avLst/>
              <a:gdLst/>
              <a:ahLst/>
              <a:cxnLst/>
              <a:rect l="l" t="t" r="r" b="b"/>
              <a:pathLst>
                <a:path w="21214080" h="2103120">
                  <a:moveTo>
                    <a:pt x="0" y="0"/>
                  </a:moveTo>
                  <a:lnTo>
                    <a:pt x="21214080" y="0"/>
                  </a:lnTo>
                  <a:lnTo>
                    <a:pt x="212140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544" b="-14654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214080" cy="21316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06"/>
                </a:lnSpc>
              </a:pPr>
              <a:r>
                <a:rPr lang="en-US" sz="360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Three revenue levers.</a:t>
              </a:r>
            </a:p>
            <a:p>
              <a:pPr algn="l">
                <a:lnSpc>
                  <a:spcPts val="4406"/>
                </a:lnSpc>
              </a:pPr>
              <a:r>
                <a:rPr lang="en-US" sz="360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All native to Paytm's existing ecosystem.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4855" y="2870835"/>
            <a:ext cx="5336286" cy="4271010"/>
            <a:chOff x="0" y="0"/>
            <a:chExt cx="7115048" cy="5694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15048" cy="5694680"/>
            </a:xfrm>
            <a:custGeom>
              <a:avLst/>
              <a:gdLst/>
              <a:ahLst/>
              <a:cxnLst/>
              <a:rect l="l" t="t" r="r" b="b"/>
              <a:pathLst>
                <a:path w="7115048" h="5694680">
                  <a:moveTo>
                    <a:pt x="0" y="0"/>
                  </a:moveTo>
                  <a:lnTo>
                    <a:pt x="7115048" y="0"/>
                  </a:lnTo>
                  <a:lnTo>
                    <a:pt x="7115048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97280" y="3127248"/>
            <a:ext cx="1645920" cy="822960"/>
            <a:chOff x="0" y="0"/>
            <a:chExt cx="2194560" cy="1097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" cy="1097280"/>
            </a:xfrm>
            <a:custGeom>
              <a:avLst/>
              <a:gdLst/>
              <a:ahLst/>
              <a:cxnLst/>
              <a:rect l="l" t="t" r="r" b="b"/>
              <a:pathLst>
                <a:path w="2194560" h="1097280">
                  <a:moveTo>
                    <a:pt x="0" y="0"/>
                  </a:moveTo>
                  <a:lnTo>
                    <a:pt x="2194560" y="0"/>
                  </a:lnTo>
                  <a:lnTo>
                    <a:pt x="2194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19456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979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7280" y="3950208"/>
            <a:ext cx="4631436" cy="754380"/>
            <a:chOff x="0" y="0"/>
            <a:chExt cx="6175248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75248" cy="1005840"/>
            </a:xfrm>
            <a:custGeom>
              <a:avLst/>
              <a:gdLst/>
              <a:ahLst/>
              <a:cxnLst/>
              <a:rect l="l" t="t" r="r" b="b"/>
              <a:pathLst>
                <a:path w="6175248" h="1005840">
                  <a:moveTo>
                    <a:pt x="0" y="0"/>
                  </a:moveTo>
                  <a:lnTo>
                    <a:pt x="6175248" y="0"/>
                  </a:lnTo>
                  <a:lnTo>
                    <a:pt x="61752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26" b="-6962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75248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2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Freemium SaaS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97280" y="4773168"/>
            <a:ext cx="4631436" cy="1577340"/>
            <a:chOff x="0" y="0"/>
            <a:chExt cx="6175248" cy="2103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75248" cy="2103120"/>
            </a:xfrm>
            <a:custGeom>
              <a:avLst/>
              <a:gdLst/>
              <a:ahLst/>
              <a:cxnLst/>
              <a:rect l="l" t="t" r="r" b="b"/>
              <a:pathLst>
                <a:path w="6175248" h="2103120">
                  <a:moveTo>
                    <a:pt x="0" y="0"/>
                  </a:moveTo>
                  <a:lnTo>
                    <a:pt x="6175248" y="0"/>
                  </a:lnTo>
                  <a:lnTo>
                    <a:pt x="6175248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12" b="-721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6175248" cy="2169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57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Free: 1 suggestion/week. Paid (₹99/mo): all 3 capabilities + daily check-ins + WhatsApp delivery.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 rot="14100">
            <a:off x="1087736" y="6469190"/>
            <a:ext cx="4650524" cy="0"/>
          </a:xfrm>
          <a:prstGeom prst="line">
            <a:avLst/>
          </a:prstGeom>
          <a:ln w="9525" cap="rnd">
            <a:solidFill>
              <a:srgbClr val="E7E2D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097280" y="6611112"/>
            <a:ext cx="4631436" cy="411480"/>
            <a:chOff x="0" y="0"/>
            <a:chExt cx="6175248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175248" cy="548640"/>
            </a:xfrm>
            <a:custGeom>
              <a:avLst/>
              <a:gdLst/>
              <a:ahLst/>
              <a:cxnLst/>
              <a:rect l="l" t="t" r="r" b="b"/>
              <a:pathLst>
                <a:path w="6175248" h="548640">
                  <a:moveTo>
                    <a:pt x="0" y="0"/>
                  </a:moveTo>
                  <a:lnTo>
                    <a:pt x="6175248" y="0"/>
                  </a:lnTo>
                  <a:lnTo>
                    <a:pt x="61752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314" b="-16931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175248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i="1">
                  <a:solidFill>
                    <a:srgbClr val="C9791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Target: top 10% of merchants ≈ 1.3M subscribers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73571" y="2870835"/>
            <a:ext cx="5336286" cy="4271010"/>
            <a:chOff x="0" y="0"/>
            <a:chExt cx="7115048" cy="56946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15048" cy="5694680"/>
            </a:xfrm>
            <a:custGeom>
              <a:avLst/>
              <a:gdLst/>
              <a:ahLst/>
              <a:cxnLst/>
              <a:rect l="l" t="t" r="r" b="b"/>
              <a:pathLst>
                <a:path w="7115048" h="5694680">
                  <a:moveTo>
                    <a:pt x="0" y="0"/>
                  </a:moveTo>
                  <a:lnTo>
                    <a:pt x="7115048" y="0"/>
                  </a:lnTo>
                  <a:lnTo>
                    <a:pt x="7115048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825996" y="3127248"/>
            <a:ext cx="1645920" cy="822960"/>
            <a:chOff x="0" y="0"/>
            <a:chExt cx="2194560" cy="10972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4560" cy="1097280"/>
            </a:xfrm>
            <a:custGeom>
              <a:avLst/>
              <a:gdLst/>
              <a:ahLst/>
              <a:cxnLst/>
              <a:rect l="l" t="t" r="r" b="b"/>
              <a:pathLst>
                <a:path w="2194560" h="1097280">
                  <a:moveTo>
                    <a:pt x="0" y="0"/>
                  </a:moveTo>
                  <a:lnTo>
                    <a:pt x="2194560" y="0"/>
                  </a:lnTo>
                  <a:lnTo>
                    <a:pt x="2194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219456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3E8ED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25996" y="3950208"/>
            <a:ext cx="4631436" cy="754380"/>
            <a:chOff x="0" y="0"/>
            <a:chExt cx="6175248" cy="10058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175248" cy="1005840"/>
            </a:xfrm>
            <a:custGeom>
              <a:avLst/>
              <a:gdLst/>
              <a:ahLst/>
              <a:cxnLst/>
              <a:rect l="l" t="t" r="r" b="b"/>
              <a:pathLst>
                <a:path w="6175248" h="1005840">
                  <a:moveTo>
                    <a:pt x="0" y="0"/>
                  </a:moveTo>
                  <a:lnTo>
                    <a:pt x="6175248" y="0"/>
                  </a:lnTo>
                  <a:lnTo>
                    <a:pt x="61752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26" b="-69626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6175248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2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Financial Product Trigger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25996" y="4773168"/>
            <a:ext cx="4631436" cy="1577340"/>
            <a:chOff x="0" y="0"/>
            <a:chExt cx="6175248" cy="21031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175248" cy="2103120"/>
            </a:xfrm>
            <a:custGeom>
              <a:avLst/>
              <a:gdLst/>
              <a:ahLst/>
              <a:cxnLst/>
              <a:rect l="l" t="t" r="r" b="b"/>
              <a:pathLst>
                <a:path w="6175248" h="2103120">
                  <a:moveTo>
                    <a:pt x="0" y="0"/>
                  </a:moveTo>
                  <a:lnTo>
                    <a:pt x="6175248" y="0"/>
                  </a:lnTo>
                  <a:lnTo>
                    <a:pt x="6175248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12" b="-7212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6175248" cy="2169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57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Detects consistent growth and surfaces a Paytm Loan or Insurance product at peak trust moment.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 rot="14100">
            <a:off x="6816452" y="6469190"/>
            <a:ext cx="4650524" cy="0"/>
          </a:xfrm>
          <a:prstGeom prst="line">
            <a:avLst/>
          </a:prstGeom>
          <a:ln w="9525" cap="rnd">
            <a:solidFill>
              <a:srgbClr val="E7E2D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5" name="Group 35"/>
          <p:cNvGrpSpPr/>
          <p:nvPr/>
        </p:nvGrpSpPr>
        <p:grpSpPr>
          <a:xfrm>
            <a:off x="6825996" y="6611112"/>
            <a:ext cx="4631436" cy="411480"/>
            <a:chOff x="0" y="0"/>
            <a:chExt cx="6175248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175248" cy="548640"/>
            </a:xfrm>
            <a:custGeom>
              <a:avLst/>
              <a:gdLst/>
              <a:ahLst/>
              <a:cxnLst/>
              <a:rect l="l" t="t" r="r" b="b"/>
              <a:pathLst>
                <a:path w="6175248" h="548640">
                  <a:moveTo>
                    <a:pt x="0" y="0"/>
                  </a:moveTo>
                  <a:lnTo>
                    <a:pt x="6175248" y="0"/>
                  </a:lnTo>
                  <a:lnTo>
                    <a:pt x="61752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314" b="-16931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175248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i="1">
                  <a:solidFill>
                    <a:srgbClr val="3E8ED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Revenue: referral / conversion commission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202287" y="2870835"/>
            <a:ext cx="5336286" cy="4271010"/>
            <a:chOff x="0" y="0"/>
            <a:chExt cx="7115048" cy="56946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115048" cy="5694680"/>
            </a:xfrm>
            <a:custGeom>
              <a:avLst/>
              <a:gdLst/>
              <a:ahLst/>
              <a:cxnLst/>
              <a:rect l="l" t="t" r="r" b="b"/>
              <a:pathLst>
                <a:path w="7115048" h="5694680">
                  <a:moveTo>
                    <a:pt x="0" y="0"/>
                  </a:moveTo>
                  <a:lnTo>
                    <a:pt x="7115048" y="0"/>
                  </a:lnTo>
                  <a:lnTo>
                    <a:pt x="7115048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2D6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554712" y="3127248"/>
            <a:ext cx="1645920" cy="822960"/>
            <a:chOff x="0" y="0"/>
            <a:chExt cx="2194560" cy="10972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94560" cy="1097280"/>
            </a:xfrm>
            <a:custGeom>
              <a:avLst/>
              <a:gdLst/>
              <a:ahLst/>
              <a:cxnLst/>
              <a:rect l="l" t="t" r="r" b="b"/>
              <a:pathLst>
                <a:path w="2194560" h="1097280">
                  <a:moveTo>
                    <a:pt x="0" y="0"/>
                  </a:moveTo>
                  <a:lnTo>
                    <a:pt x="2194560" y="0"/>
                  </a:lnTo>
                  <a:lnTo>
                    <a:pt x="2194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219456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2BAE6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554712" y="3950208"/>
            <a:ext cx="4631436" cy="754380"/>
            <a:chOff x="0" y="0"/>
            <a:chExt cx="6175248" cy="10058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175248" cy="1005840"/>
            </a:xfrm>
            <a:custGeom>
              <a:avLst/>
              <a:gdLst/>
              <a:ahLst/>
              <a:cxnLst/>
              <a:rect l="l" t="t" r="r" b="b"/>
              <a:pathLst>
                <a:path w="6175248" h="1005840">
                  <a:moveTo>
                    <a:pt x="0" y="0"/>
                  </a:moveTo>
                  <a:lnTo>
                    <a:pt x="6175248" y="0"/>
                  </a:lnTo>
                  <a:lnTo>
                    <a:pt x="61752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26" b="-6962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6175248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250" b="1">
                  <a:solidFill>
                    <a:srgbClr val="1B1F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Platform Intelligence API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554712" y="4773168"/>
            <a:ext cx="4631436" cy="1577340"/>
            <a:chOff x="0" y="0"/>
            <a:chExt cx="6175248" cy="21031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175248" cy="2103120"/>
            </a:xfrm>
            <a:custGeom>
              <a:avLst/>
              <a:gdLst/>
              <a:ahLst/>
              <a:cxnLst/>
              <a:rect l="l" t="t" r="r" b="b"/>
              <a:pathLst>
                <a:path w="6175248" h="2103120">
                  <a:moveTo>
                    <a:pt x="0" y="0"/>
                  </a:moveTo>
                  <a:lnTo>
                    <a:pt x="6175248" y="0"/>
                  </a:lnTo>
                  <a:lnTo>
                    <a:pt x="6175248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12" b="-721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6175248" cy="2169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575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Aggregate anonymised decision-outcome data, sold as a B2B intelligence API to FMCG brands, distributors &amp; lenders.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 rot="14100">
            <a:off x="12545168" y="6469190"/>
            <a:ext cx="4650524" cy="0"/>
          </a:xfrm>
          <a:prstGeom prst="line">
            <a:avLst/>
          </a:prstGeom>
          <a:ln w="9525" cap="rnd">
            <a:solidFill>
              <a:srgbClr val="E7E2D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0" name="Group 50"/>
          <p:cNvGrpSpPr/>
          <p:nvPr/>
        </p:nvGrpSpPr>
        <p:grpSpPr>
          <a:xfrm>
            <a:off x="12554712" y="6611112"/>
            <a:ext cx="4631436" cy="411480"/>
            <a:chOff x="0" y="0"/>
            <a:chExt cx="6175248" cy="548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175248" cy="548640"/>
            </a:xfrm>
            <a:custGeom>
              <a:avLst/>
              <a:gdLst/>
              <a:ahLst/>
              <a:cxnLst/>
              <a:rect l="l" t="t" r="r" b="b"/>
              <a:pathLst>
                <a:path w="6175248" h="548640">
                  <a:moveTo>
                    <a:pt x="0" y="0"/>
                  </a:moveTo>
                  <a:lnTo>
                    <a:pt x="6175248" y="0"/>
                  </a:lnTo>
                  <a:lnTo>
                    <a:pt x="61752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314" b="-169314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175248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i="1">
                  <a:solidFill>
                    <a:srgbClr val="2BAE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Revenue: enterprise API licensing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54380" y="7475220"/>
            <a:ext cx="16774668" cy="1165860"/>
            <a:chOff x="0" y="0"/>
            <a:chExt cx="22366224" cy="15544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366224" cy="1554480"/>
            </a:xfrm>
            <a:custGeom>
              <a:avLst/>
              <a:gdLst/>
              <a:ahLst/>
              <a:cxnLst/>
              <a:rect l="l" t="t" r="r" b="b"/>
              <a:pathLst>
                <a:path w="22366224" h="1554480">
                  <a:moveTo>
                    <a:pt x="0" y="0"/>
                  </a:moveTo>
                  <a:lnTo>
                    <a:pt x="22366224" y="0"/>
                  </a:lnTo>
                  <a:lnTo>
                    <a:pt x="22366224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4172E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165860" y="7612380"/>
            <a:ext cx="4768596" cy="548640"/>
            <a:chOff x="0" y="0"/>
            <a:chExt cx="6358128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358128" cy="731520"/>
            </a:xfrm>
            <a:custGeom>
              <a:avLst/>
              <a:gdLst/>
              <a:ahLst/>
              <a:cxnLst/>
              <a:rect l="l" t="t" r="r" b="b"/>
              <a:pathLst>
                <a:path w="6358128" h="731520">
                  <a:moveTo>
                    <a:pt x="0" y="0"/>
                  </a:moveTo>
                  <a:lnTo>
                    <a:pt x="6358128" y="0"/>
                  </a:lnTo>
                  <a:lnTo>
                    <a:pt x="63581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357" b="-119357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6358128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2A9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₹8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65860" y="8161020"/>
            <a:ext cx="4768596" cy="411480"/>
            <a:chOff x="0" y="0"/>
            <a:chExt cx="6358128" cy="548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358128" cy="548640"/>
            </a:xfrm>
            <a:custGeom>
              <a:avLst/>
              <a:gdLst/>
              <a:ahLst/>
              <a:cxnLst/>
              <a:rect l="l" t="t" r="r" b="b"/>
              <a:pathLst>
                <a:path w="6358128" h="548640">
                  <a:moveTo>
                    <a:pt x="0" y="0"/>
                  </a:moveTo>
                  <a:lnTo>
                    <a:pt x="6358128" y="0"/>
                  </a:lnTo>
                  <a:lnTo>
                    <a:pt x="63581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809" b="-175809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6358128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C7CB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 / merchant / month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757416" y="7612380"/>
            <a:ext cx="4768596" cy="548640"/>
            <a:chOff x="0" y="0"/>
            <a:chExt cx="6358128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358128" cy="731520"/>
            </a:xfrm>
            <a:custGeom>
              <a:avLst/>
              <a:gdLst/>
              <a:ahLst/>
              <a:cxnLst/>
              <a:rect l="l" t="t" r="r" b="b"/>
              <a:pathLst>
                <a:path w="6358128" h="731520">
                  <a:moveTo>
                    <a:pt x="0" y="0"/>
                  </a:moveTo>
                  <a:lnTo>
                    <a:pt x="6358128" y="0"/>
                  </a:lnTo>
                  <a:lnTo>
                    <a:pt x="63581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357" b="-119357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6358128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2A9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₹91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757416" y="8161020"/>
            <a:ext cx="4768596" cy="411480"/>
            <a:chOff x="0" y="0"/>
            <a:chExt cx="6358128" cy="5486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358128" cy="548640"/>
            </a:xfrm>
            <a:custGeom>
              <a:avLst/>
              <a:gdLst/>
              <a:ahLst/>
              <a:cxnLst/>
              <a:rect l="l" t="t" r="r" b="b"/>
              <a:pathLst>
                <a:path w="6358128" h="548640">
                  <a:moveTo>
                    <a:pt x="0" y="0"/>
                  </a:moveTo>
                  <a:lnTo>
                    <a:pt x="6358128" y="0"/>
                  </a:lnTo>
                  <a:lnTo>
                    <a:pt x="63581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809" b="-175809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6358128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C7CB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gross margin at ₹99 paid tier</a:t>
              </a:r>
            </a:p>
          </p:txBody>
        </p:sp>
      </p:grpSp>
      <p:sp>
        <p:nvSpPr>
          <p:cNvPr id="67" name="AutoShape 67"/>
          <p:cNvSpPr/>
          <p:nvPr/>
        </p:nvSpPr>
        <p:spPr>
          <a:xfrm rot="5315340">
            <a:off x="5959107" y="8053388"/>
            <a:ext cx="773668" cy="0"/>
          </a:xfrm>
          <a:prstGeom prst="line">
            <a:avLst/>
          </a:prstGeom>
          <a:ln w="9525" cap="rnd">
            <a:solidFill>
              <a:srgbClr val="3339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8" name="Group 68"/>
          <p:cNvGrpSpPr/>
          <p:nvPr/>
        </p:nvGrpSpPr>
        <p:grpSpPr>
          <a:xfrm>
            <a:off x="12348972" y="7612380"/>
            <a:ext cx="4768596" cy="548640"/>
            <a:chOff x="0" y="0"/>
            <a:chExt cx="6358128" cy="7315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58128" cy="731520"/>
            </a:xfrm>
            <a:custGeom>
              <a:avLst/>
              <a:gdLst/>
              <a:ahLst/>
              <a:cxnLst/>
              <a:rect l="l" t="t" r="r" b="b"/>
              <a:pathLst>
                <a:path w="6358128" h="731520">
                  <a:moveTo>
                    <a:pt x="0" y="0"/>
                  </a:moveTo>
                  <a:lnTo>
                    <a:pt x="6358128" y="0"/>
                  </a:lnTo>
                  <a:lnTo>
                    <a:pt x="63581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357" b="-119357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6358128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2A9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100K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348972" y="8161020"/>
            <a:ext cx="4768596" cy="411480"/>
            <a:chOff x="0" y="0"/>
            <a:chExt cx="6358128" cy="5486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358128" cy="548640"/>
            </a:xfrm>
            <a:custGeom>
              <a:avLst/>
              <a:gdLst/>
              <a:ahLst/>
              <a:cxnLst/>
              <a:rect l="l" t="t" r="r" b="b"/>
              <a:pathLst>
                <a:path w="6358128" h="548640">
                  <a:moveTo>
                    <a:pt x="0" y="0"/>
                  </a:moveTo>
                  <a:lnTo>
                    <a:pt x="6358128" y="0"/>
                  </a:lnTo>
                  <a:lnTo>
                    <a:pt x="63581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809" b="-17580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358128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C7CB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paid merchants to break even</a:t>
              </a:r>
            </a:p>
          </p:txBody>
        </p:sp>
      </p:grpSp>
      <p:sp>
        <p:nvSpPr>
          <p:cNvPr id="74" name="AutoShape 74"/>
          <p:cNvSpPr/>
          <p:nvPr/>
        </p:nvSpPr>
        <p:spPr>
          <a:xfrm rot="5315340">
            <a:off x="11550663" y="8053388"/>
            <a:ext cx="773668" cy="0"/>
          </a:xfrm>
          <a:prstGeom prst="line">
            <a:avLst/>
          </a:prstGeom>
          <a:ln w="9525" cap="rnd">
            <a:solidFill>
              <a:srgbClr val="3339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5" name="Group 75"/>
          <p:cNvGrpSpPr/>
          <p:nvPr/>
        </p:nvGrpSpPr>
        <p:grpSpPr>
          <a:xfrm>
            <a:off x="16911828" y="9532620"/>
            <a:ext cx="822960" cy="480060"/>
            <a:chOff x="0" y="0"/>
            <a:chExt cx="1097280" cy="64008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5E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54380" y="9532620"/>
            <a:ext cx="5486400" cy="480060"/>
            <a:chOff x="0" y="0"/>
            <a:chExt cx="7315200" cy="64008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BDB6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VYAPAR SARTHI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1088</Words>
  <Application>Microsoft Office PowerPoint</Application>
  <PresentationFormat>Custom</PresentationFormat>
  <Paragraphs>213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Cambria Italics</vt:lpstr>
      <vt:lpstr>Calibri</vt:lpstr>
      <vt:lpstr>Courier New</vt:lpstr>
      <vt:lpstr>Cambria Bold</vt:lpstr>
      <vt:lpstr>Calibri (MS) Italics</vt:lpstr>
      <vt:lpstr>Arial</vt:lpstr>
      <vt:lpstr>Calibri (MS) Bold</vt:lpstr>
      <vt:lpstr>Cambria Bold Italics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VyaparSarthi_Deck.pptx</dc:title>
  <cp:lastModifiedBy>DEVESH DOLAS</cp:lastModifiedBy>
  <cp:revision>3</cp:revision>
  <dcterms:created xsi:type="dcterms:W3CDTF">2006-08-16T00:00:00Z</dcterms:created>
  <dcterms:modified xsi:type="dcterms:W3CDTF">2026-09-25T10:40:44Z</dcterms:modified>
  <dc:identifier>DAHWML8JxCo</dc:identifier>
</cp:coreProperties>
</file>